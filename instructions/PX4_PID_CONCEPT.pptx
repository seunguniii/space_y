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5" r:id="rId3"/>
    <p:sldId id="257" r:id="rId4"/>
    <p:sldId id="258" r:id="rId5"/>
    <p:sldId id="259" r:id="rId6"/>
    <p:sldId id="261" r:id="rId7"/>
    <p:sldId id="263" r:id="rId8"/>
    <p:sldId id="266" r:id="rId9"/>
    <p:sldId id="268" r:id="rId10"/>
    <p:sldId id="267" r:id="rId11"/>
    <p:sldId id="269" r:id="rId12"/>
    <p:sldId id="265" r:id="rId13"/>
    <p:sldId id="262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78"/>
    <p:restoredTop sz="94841"/>
  </p:normalViewPr>
  <p:slideViewPr>
    <p:cSldViewPr snapToGrid="0">
      <p:cViewPr varScale="1">
        <p:scale>
          <a:sx n="108" d="100"/>
          <a:sy n="108" d="100"/>
        </p:scale>
        <p:origin x="6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9DFF73F-6198-4BC3-A1FD-C550DD2166DC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0E3B721-A468-4FF2-8657-37C50F826AAC}">
      <dgm:prSet/>
      <dgm:spPr/>
      <dgm:t>
        <a:bodyPr/>
        <a:lstStyle/>
        <a:p>
          <a:r>
            <a:rPr kumimoji="1" lang="ko-KR"/>
            <a:t>간단한 회로도 및 구성도</a:t>
          </a:r>
          <a:endParaRPr lang="en-US"/>
        </a:p>
      </dgm:t>
    </dgm:pt>
    <dgm:pt modelId="{175BE9C9-A8A0-492C-AF53-EE1D7E741644}" type="parTrans" cxnId="{0EABC99D-16C9-45B6-BC0C-47271E585DEC}">
      <dgm:prSet/>
      <dgm:spPr/>
      <dgm:t>
        <a:bodyPr/>
        <a:lstStyle/>
        <a:p>
          <a:endParaRPr lang="en-US"/>
        </a:p>
      </dgm:t>
    </dgm:pt>
    <dgm:pt modelId="{0C92781C-E0B5-418C-A2F3-C64E47111B30}" type="sibTrans" cxnId="{0EABC99D-16C9-45B6-BC0C-47271E585DEC}">
      <dgm:prSet phldrT="01"/>
      <dgm:spPr/>
      <dgm:t>
        <a:bodyPr/>
        <a:lstStyle/>
        <a:p>
          <a:r>
            <a:rPr lang="en-US"/>
            <a:t>01</a:t>
          </a:r>
        </a:p>
      </dgm:t>
    </dgm:pt>
    <dgm:pt modelId="{6BE2B4B8-8D9A-4C60-A6AC-B715358A4E85}">
      <dgm:prSet/>
      <dgm:spPr/>
      <dgm:t>
        <a:bodyPr/>
        <a:lstStyle/>
        <a:p>
          <a:r>
            <a:rPr kumimoji="1" lang="ko-KR"/>
            <a:t>멀티콥터의 계산 과정 및 각각의 파라미터</a:t>
          </a:r>
          <a:endParaRPr lang="en-US"/>
        </a:p>
      </dgm:t>
    </dgm:pt>
    <dgm:pt modelId="{C5427663-F607-45D8-B901-5CAAFB24A63B}" type="parTrans" cxnId="{B4CCA72B-B33F-44E6-A1B1-3E7EACD9DDD3}">
      <dgm:prSet/>
      <dgm:spPr/>
      <dgm:t>
        <a:bodyPr/>
        <a:lstStyle/>
        <a:p>
          <a:endParaRPr lang="en-US"/>
        </a:p>
      </dgm:t>
    </dgm:pt>
    <dgm:pt modelId="{BEF45707-DBA3-46FB-A4AD-D7107FDFD749}" type="sibTrans" cxnId="{B4CCA72B-B33F-44E6-A1B1-3E7EACD9DDD3}">
      <dgm:prSet phldrT="02"/>
      <dgm:spPr/>
      <dgm:t>
        <a:bodyPr/>
        <a:lstStyle/>
        <a:p>
          <a:r>
            <a:rPr lang="en-US"/>
            <a:t>02</a:t>
          </a:r>
        </a:p>
      </dgm:t>
    </dgm:pt>
    <dgm:pt modelId="{C026554A-A47B-4875-BA19-75B2E3E3CD3F}">
      <dgm:prSet/>
      <dgm:spPr/>
      <dgm:t>
        <a:bodyPr/>
        <a:lstStyle/>
        <a:p>
          <a:r>
            <a:rPr kumimoji="1" lang="ko-KR"/>
            <a:t>고정익과의 연결점</a:t>
          </a:r>
          <a:endParaRPr lang="en-US"/>
        </a:p>
      </dgm:t>
    </dgm:pt>
    <dgm:pt modelId="{BF56470D-F27B-45EA-8788-2044A40E9C79}" type="parTrans" cxnId="{8DEDDD09-1057-4E0A-A537-5708AA6E5A1A}">
      <dgm:prSet/>
      <dgm:spPr/>
      <dgm:t>
        <a:bodyPr/>
        <a:lstStyle/>
        <a:p>
          <a:endParaRPr lang="en-US"/>
        </a:p>
      </dgm:t>
    </dgm:pt>
    <dgm:pt modelId="{6DD2C83A-96E8-41F9-94C2-91CACA985E95}" type="sibTrans" cxnId="{8DEDDD09-1057-4E0A-A537-5708AA6E5A1A}">
      <dgm:prSet phldrT="03"/>
      <dgm:spPr/>
      <dgm:t>
        <a:bodyPr/>
        <a:lstStyle/>
        <a:p>
          <a:r>
            <a:rPr lang="en-US"/>
            <a:t>03</a:t>
          </a:r>
        </a:p>
      </dgm:t>
    </dgm:pt>
    <dgm:pt modelId="{6911A4C3-6CD2-42CE-AC2A-E4FCFA0D0008}">
      <dgm:prSet/>
      <dgm:spPr/>
      <dgm:t>
        <a:bodyPr/>
        <a:lstStyle/>
        <a:p>
          <a:r>
            <a:rPr kumimoji="1" lang="en-US"/>
            <a:t>VTOL</a:t>
          </a:r>
          <a:r>
            <a:rPr kumimoji="1" lang="ko-KR"/>
            <a:t>과의 연결점</a:t>
          </a:r>
          <a:endParaRPr lang="en-US"/>
        </a:p>
      </dgm:t>
    </dgm:pt>
    <dgm:pt modelId="{839DC12C-4DDB-45AE-8A20-A5E061C869BE}" type="parTrans" cxnId="{B3FE85B0-8C29-43BD-836A-4E896074A0BB}">
      <dgm:prSet/>
      <dgm:spPr/>
      <dgm:t>
        <a:bodyPr/>
        <a:lstStyle/>
        <a:p>
          <a:endParaRPr lang="en-US"/>
        </a:p>
      </dgm:t>
    </dgm:pt>
    <dgm:pt modelId="{6FA9981A-C315-47CF-939E-3A8600C3EF97}" type="sibTrans" cxnId="{B3FE85B0-8C29-43BD-836A-4E896074A0BB}">
      <dgm:prSet phldrT="04"/>
      <dgm:spPr/>
      <dgm:t>
        <a:bodyPr/>
        <a:lstStyle/>
        <a:p>
          <a:r>
            <a:rPr lang="en-US"/>
            <a:t>04</a:t>
          </a:r>
        </a:p>
      </dgm:t>
    </dgm:pt>
    <dgm:pt modelId="{15E48559-3098-774D-B655-496772888158}" type="pres">
      <dgm:prSet presAssocID="{19DFF73F-6198-4BC3-A1FD-C550DD2166DC}" presName="Name0" presStyleCnt="0">
        <dgm:presLayoutVars>
          <dgm:animLvl val="lvl"/>
          <dgm:resizeHandles val="exact"/>
        </dgm:presLayoutVars>
      </dgm:prSet>
      <dgm:spPr/>
    </dgm:pt>
    <dgm:pt modelId="{B584D10C-150B-484B-B795-173A6699DDFE}" type="pres">
      <dgm:prSet presAssocID="{00E3B721-A468-4FF2-8657-37C50F826AAC}" presName="compositeNode" presStyleCnt="0">
        <dgm:presLayoutVars>
          <dgm:bulletEnabled val="1"/>
        </dgm:presLayoutVars>
      </dgm:prSet>
      <dgm:spPr/>
    </dgm:pt>
    <dgm:pt modelId="{460CF750-F062-1B41-83B1-14DA46A51FF4}" type="pres">
      <dgm:prSet presAssocID="{00E3B721-A468-4FF2-8657-37C50F826AAC}" presName="bgRect" presStyleLbl="alignNode1" presStyleIdx="0" presStyleCnt="4"/>
      <dgm:spPr/>
    </dgm:pt>
    <dgm:pt modelId="{98B1AFEB-2C31-C84A-AA41-2D1F917DD43D}" type="pres">
      <dgm:prSet presAssocID="{0C92781C-E0B5-418C-A2F3-C64E47111B30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2D62A909-375F-B14F-B478-C9589D565F09}" type="pres">
      <dgm:prSet presAssocID="{00E3B721-A468-4FF2-8657-37C50F826AAC}" presName="nodeRect" presStyleLbl="alignNode1" presStyleIdx="0" presStyleCnt="4">
        <dgm:presLayoutVars>
          <dgm:bulletEnabled val="1"/>
        </dgm:presLayoutVars>
      </dgm:prSet>
      <dgm:spPr/>
    </dgm:pt>
    <dgm:pt modelId="{E18E4B72-84F7-8847-BD6A-20E52ABF1B95}" type="pres">
      <dgm:prSet presAssocID="{0C92781C-E0B5-418C-A2F3-C64E47111B30}" presName="sibTrans" presStyleCnt="0"/>
      <dgm:spPr/>
    </dgm:pt>
    <dgm:pt modelId="{279C81BD-5FC7-0C41-9907-F12BDF5F0051}" type="pres">
      <dgm:prSet presAssocID="{6BE2B4B8-8D9A-4C60-A6AC-B715358A4E85}" presName="compositeNode" presStyleCnt="0">
        <dgm:presLayoutVars>
          <dgm:bulletEnabled val="1"/>
        </dgm:presLayoutVars>
      </dgm:prSet>
      <dgm:spPr/>
    </dgm:pt>
    <dgm:pt modelId="{405244ED-7435-2B4F-9BE3-BB04D7EBD8B1}" type="pres">
      <dgm:prSet presAssocID="{6BE2B4B8-8D9A-4C60-A6AC-B715358A4E85}" presName="bgRect" presStyleLbl="alignNode1" presStyleIdx="1" presStyleCnt="4"/>
      <dgm:spPr/>
    </dgm:pt>
    <dgm:pt modelId="{4809FA5C-EC4B-D946-A4C6-44ACA606EC6A}" type="pres">
      <dgm:prSet presAssocID="{BEF45707-DBA3-46FB-A4AD-D7107FDFD749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638B3A4D-26FF-E542-90C5-DF76E30610FA}" type="pres">
      <dgm:prSet presAssocID="{6BE2B4B8-8D9A-4C60-A6AC-B715358A4E85}" presName="nodeRect" presStyleLbl="alignNode1" presStyleIdx="1" presStyleCnt="4">
        <dgm:presLayoutVars>
          <dgm:bulletEnabled val="1"/>
        </dgm:presLayoutVars>
      </dgm:prSet>
      <dgm:spPr/>
    </dgm:pt>
    <dgm:pt modelId="{CC38FB12-F8A6-2542-B002-DE8E85503CD4}" type="pres">
      <dgm:prSet presAssocID="{BEF45707-DBA3-46FB-A4AD-D7107FDFD749}" presName="sibTrans" presStyleCnt="0"/>
      <dgm:spPr/>
    </dgm:pt>
    <dgm:pt modelId="{49956F07-EDAA-7C46-A303-D84DFFD9F4F6}" type="pres">
      <dgm:prSet presAssocID="{C026554A-A47B-4875-BA19-75B2E3E3CD3F}" presName="compositeNode" presStyleCnt="0">
        <dgm:presLayoutVars>
          <dgm:bulletEnabled val="1"/>
        </dgm:presLayoutVars>
      </dgm:prSet>
      <dgm:spPr/>
    </dgm:pt>
    <dgm:pt modelId="{D2D7AE62-7E8D-E040-8F3C-E1785CB9DF42}" type="pres">
      <dgm:prSet presAssocID="{C026554A-A47B-4875-BA19-75B2E3E3CD3F}" presName="bgRect" presStyleLbl="alignNode1" presStyleIdx="2" presStyleCnt="4"/>
      <dgm:spPr/>
    </dgm:pt>
    <dgm:pt modelId="{3F63EB9E-A1AC-5F4E-B0F0-9D0B7E8751ED}" type="pres">
      <dgm:prSet presAssocID="{6DD2C83A-96E8-41F9-94C2-91CACA985E95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A2D94FDD-B75C-6A44-BE5C-1D3FF67C6305}" type="pres">
      <dgm:prSet presAssocID="{C026554A-A47B-4875-BA19-75B2E3E3CD3F}" presName="nodeRect" presStyleLbl="alignNode1" presStyleIdx="2" presStyleCnt="4">
        <dgm:presLayoutVars>
          <dgm:bulletEnabled val="1"/>
        </dgm:presLayoutVars>
      </dgm:prSet>
      <dgm:spPr/>
    </dgm:pt>
    <dgm:pt modelId="{649DA001-9901-3243-BB96-B0DE9600A450}" type="pres">
      <dgm:prSet presAssocID="{6DD2C83A-96E8-41F9-94C2-91CACA985E95}" presName="sibTrans" presStyleCnt="0"/>
      <dgm:spPr/>
    </dgm:pt>
    <dgm:pt modelId="{7C131629-25FD-454A-9025-DD6F02A8F5A8}" type="pres">
      <dgm:prSet presAssocID="{6911A4C3-6CD2-42CE-AC2A-E4FCFA0D0008}" presName="compositeNode" presStyleCnt="0">
        <dgm:presLayoutVars>
          <dgm:bulletEnabled val="1"/>
        </dgm:presLayoutVars>
      </dgm:prSet>
      <dgm:spPr/>
    </dgm:pt>
    <dgm:pt modelId="{108CCE02-B1E2-5844-B66F-BC5370DC1068}" type="pres">
      <dgm:prSet presAssocID="{6911A4C3-6CD2-42CE-AC2A-E4FCFA0D0008}" presName="bgRect" presStyleLbl="alignNode1" presStyleIdx="3" presStyleCnt="4"/>
      <dgm:spPr/>
    </dgm:pt>
    <dgm:pt modelId="{062FC05A-796E-F84E-8C22-16A303C6452E}" type="pres">
      <dgm:prSet presAssocID="{6FA9981A-C315-47CF-939E-3A8600C3EF97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2BE112C1-290A-A944-99D0-CEAF5A6E58EE}" type="pres">
      <dgm:prSet presAssocID="{6911A4C3-6CD2-42CE-AC2A-E4FCFA0D0008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096AAF06-1DA9-E74B-9BD9-A0B48B13F3CB}" type="presOf" srcId="{6911A4C3-6CD2-42CE-AC2A-E4FCFA0D0008}" destId="{2BE112C1-290A-A944-99D0-CEAF5A6E58EE}" srcOrd="1" destOrd="0" presId="urn:microsoft.com/office/officeart/2016/7/layout/LinearBlockProcessNumbered"/>
    <dgm:cxn modelId="{8DEDDD09-1057-4E0A-A537-5708AA6E5A1A}" srcId="{19DFF73F-6198-4BC3-A1FD-C550DD2166DC}" destId="{C026554A-A47B-4875-BA19-75B2E3E3CD3F}" srcOrd="2" destOrd="0" parTransId="{BF56470D-F27B-45EA-8788-2044A40E9C79}" sibTransId="{6DD2C83A-96E8-41F9-94C2-91CACA985E95}"/>
    <dgm:cxn modelId="{79875F15-7045-DF44-8426-8BE86CB202C4}" type="presOf" srcId="{0C92781C-E0B5-418C-A2F3-C64E47111B30}" destId="{98B1AFEB-2C31-C84A-AA41-2D1F917DD43D}" srcOrd="0" destOrd="0" presId="urn:microsoft.com/office/officeart/2016/7/layout/LinearBlockProcessNumbered"/>
    <dgm:cxn modelId="{7946F217-6CE6-C343-9D6E-4401DE310D7F}" type="presOf" srcId="{6FA9981A-C315-47CF-939E-3A8600C3EF97}" destId="{062FC05A-796E-F84E-8C22-16A303C6452E}" srcOrd="0" destOrd="0" presId="urn:microsoft.com/office/officeart/2016/7/layout/LinearBlockProcessNumbered"/>
    <dgm:cxn modelId="{B4CCA72B-B33F-44E6-A1B1-3E7EACD9DDD3}" srcId="{19DFF73F-6198-4BC3-A1FD-C550DD2166DC}" destId="{6BE2B4B8-8D9A-4C60-A6AC-B715358A4E85}" srcOrd="1" destOrd="0" parTransId="{C5427663-F607-45D8-B901-5CAAFB24A63B}" sibTransId="{BEF45707-DBA3-46FB-A4AD-D7107FDFD749}"/>
    <dgm:cxn modelId="{FF9EB046-CF60-8340-80DE-77D23E9D3DEE}" type="presOf" srcId="{BEF45707-DBA3-46FB-A4AD-D7107FDFD749}" destId="{4809FA5C-EC4B-D946-A4C6-44ACA606EC6A}" srcOrd="0" destOrd="0" presId="urn:microsoft.com/office/officeart/2016/7/layout/LinearBlockProcessNumbered"/>
    <dgm:cxn modelId="{B431064E-D0DD-0D45-BEB2-E71985AE3765}" type="presOf" srcId="{C026554A-A47B-4875-BA19-75B2E3E3CD3F}" destId="{D2D7AE62-7E8D-E040-8F3C-E1785CB9DF42}" srcOrd="0" destOrd="0" presId="urn:microsoft.com/office/officeart/2016/7/layout/LinearBlockProcessNumbered"/>
    <dgm:cxn modelId="{095B097D-DBFC-7340-B728-C089CD73CD9D}" type="presOf" srcId="{C026554A-A47B-4875-BA19-75B2E3E3CD3F}" destId="{A2D94FDD-B75C-6A44-BE5C-1D3FF67C6305}" srcOrd="1" destOrd="0" presId="urn:microsoft.com/office/officeart/2016/7/layout/LinearBlockProcessNumbered"/>
    <dgm:cxn modelId="{0EABC99D-16C9-45B6-BC0C-47271E585DEC}" srcId="{19DFF73F-6198-4BC3-A1FD-C550DD2166DC}" destId="{00E3B721-A468-4FF2-8657-37C50F826AAC}" srcOrd="0" destOrd="0" parTransId="{175BE9C9-A8A0-492C-AF53-EE1D7E741644}" sibTransId="{0C92781C-E0B5-418C-A2F3-C64E47111B30}"/>
    <dgm:cxn modelId="{B4CF58A6-8F5B-4F4C-BAAA-926582C61DC9}" type="presOf" srcId="{6BE2B4B8-8D9A-4C60-A6AC-B715358A4E85}" destId="{638B3A4D-26FF-E542-90C5-DF76E30610FA}" srcOrd="1" destOrd="0" presId="urn:microsoft.com/office/officeart/2016/7/layout/LinearBlockProcessNumbered"/>
    <dgm:cxn modelId="{B3FE85B0-8C29-43BD-836A-4E896074A0BB}" srcId="{19DFF73F-6198-4BC3-A1FD-C550DD2166DC}" destId="{6911A4C3-6CD2-42CE-AC2A-E4FCFA0D0008}" srcOrd="3" destOrd="0" parTransId="{839DC12C-4DDB-45AE-8A20-A5E061C869BE}" sibTransId="{6FA9981A-C315-47CF-939E-3A8600C3EF97}"/>
    <dgm:cxn modelId="{C4005FB4-F604-4E44-87D7-E9AA835BD370}" type="presOf" srcId="{6911A4C3-6CD2-42CE-AC2A-E4FCFA0D0008}" destId="{108CCE02-B1E2-5844-B66F-BC5370DC1068}" srcOrd="0" destOrd="0" presId="urn:microsoft.com/office/officeart/2016/7/layout/LinearBlockProcessNumbered"/>
    <dgm:cxn modelId="{824D0EB5-D9CD-5345-A8E4-BEC831933D76}" type="presOf" srcId="{6DD2C83A-96E8-41F9-94C2-91CACA985E95}" destId="{3F63EB9E-A1AC-5F4E-B0F0-9D0B7E8751ED}" srcOrd="0" destOrd="0" presId="urn:microsoft.com/office/officeart/2016/7/layout/LinearBlockProcessNumbered"/>
    <dgm:cxn modelId="{74DFD5CE-FACB-AC4E-8308-262EBCA731EE}" type="presOf" srcId="{00E3B721-A468-4FF2-8657-37C50F826AAC}" destId="{460CF750-F062-1B41-83B1-14DA46A51FF4}" srcOrd="0" destOrd="0" presId="urn:microsoft.com/office/officeart/2016/7/layout/LinearBlockProcessNumbered"/>
    <dgm:cxn modelId="{B1E669E0-CB4E-6D42-9DF9-3C94F86F7D68}" type="presOf" srcId="{19DFF73F-6198-4BC3-A1FD-C550DD2166DC}" destId="{15E48559-3098-774D-B655-496772888158}" srcOrd="0" destOrd="0" presId="urn:microsoft.com/office/officeart/2016/7/layout/LinearBlockProcessNumbered"/>
    <dgm:cxn modelId="{FCB639F0-9C65-7642-A0A2-AB61AD5D7F79}" type="presOf" srcId="{6BE2B4B8-8D9A-4C60-A6AC-B715358A4E85}" destId="{405244ED-7435-2B4F-9BE3-BB04D7EBD8B1}" srcOrd="0" destOrd="0" presId="urn:microsoft.com/office/officeart/2016/7/layout/LinearBlockProcessNumbered"/>
    <dgm:cxn modelId="{CA5850F8-1A48-BD4C-990B-E90B79671E00}" type="presOf" srcId="{00E3B721-A468-4FF2-8657-37C50F826AAC}" destId="{2D62A909-375F-B14F-B478-C9589D565F09}" srcOrd="1" destOrd="0" presId="urn:microsoft.com/office/officeart/2016/7/layout/LinearBlockProcessNumbered"/>
    <dgm:cxn modelId="{16D3F501-4F5F-624A-9437-3B0979DC6984}" type="presParOf" srcId="{15E48559-3098-774D-B655-496772888158}" destId="{B584D10C-150B-484B-B795-173A6699DDFE}" srcOrd="0" destOrd="0" presId="urn:microsoft.com/office/officeart/2016/7/layout/LinearBlockProcessNumbered"/>
    <dgm:cxn modelId="{E325EB0C-26D3-E543-B9FF-650FFEB9BA37}" type="presParOf" srcId="{B584D10C-150B-484B-B795-173A6699DDFE}" destId="{460CF750-F062-1B41-83B1-14DA46A51FF4}" srcOrd="0" destOrd="0" presId="urn:microsoft.com/office/officeart/2016/7/layout/LinearBlockProcessNumbered"/>
    <dgm:cxn modelId="{50FA59F4-7B93-8F43-A0C8-30BEEA062AC7}" type="presParOf" srcId="{B584D10C-150B-484B-B795-173A6699DDFE}" destId="{98B1AFEB-2C31-C84A-AA41-2D1F917DD43D}" srcOrd="1" destOrd="0" presId="urn:microsoft.com/office/officeart/2016/7/layout/LinearBlockProcessNumbered"/>
    <dgm:cxn modelId="{C68A251D-808C-2D4F-A4A7-DAB86A6D898E}" type="presParOf" srcId="{B584D10C-150B-484B-B795-173A6699DDFE}" destId="{2D62A909-375F-B14F-B478-C9589D565F09}" srcOrd="2" destOrd="0" presId="urn:microsoft.com/office/officeart/2016/7/layout/LinearBlockProcessNumbered"/>
    <dgm:cxn modelId="{267F2F1E-2728-F846-9F6B-61CF5CFBC060}" type="presParOf" srcId="{15E48559-3098-774D-B655-496772888158}" destId="{E18E4B72-84F7-8847-BD6A-20E52ABF1B95}" srcOrd="1" destOrd="0" presId="urn:microsoft.com/office/officeart/2016/7/layout/LinearBlockProcessNumbered"/>
    <dgm:cxn modelId="{F124B06E-9D6D-644B-9797-039AFD1801D1}" type="presParOf" srcId="{15E48559-3098-774D-B655-496772888158}" destId="{279C81BD-5FC7-0C41-9907-F12BDF5F0051}" srcOrd="2" destOrd="0" presId="urn:microsoft.com/office/officeart/2016/7/layout/LinearBlockProcessNumbered"/>
    <dgm:cxn modelId="{E7DB5BA5-AF6B-A34A-AA38-4AB616836366}" type="presParOf" srcId="{279C81BD-5FC7-0C41-9907-F12BDF5F0051}" destId="{405244ED-7435-2B4F-9BE3-BB04D7EBD8B1}" srcOrd="0" destOrd="0" presId="urn:microsoft.com/office/officeart/2016/7/layout/LinearBlockProcessNumbered"/>
    <dgm:cxn modelId="{E04032CD-CA4E-D945-A17E-857090DD584B}" type="presParOf" srcId="{279C81BD-5FC7-0C41-9907-F12BDF5F0051}" destId="{4809FA5C-EC4B-D946-A4C6-44ACA606EC6A}" srcOrd="1" destOrd="0" presId="urn:microsoft.com/office/officeart/2016/7/layout/LinearBlockProcessNumbered"/>
    <dgm:cxn modelId="{41D73B05-446C-2149-8BE6-79FCC8F77CCF}" type="presParOf" srcId="{279C81BD-5FC7-0C41-9907-F12BDF5F0051}" destId="{638B3A4D-26FF-E542-90C5-DF76E30610FA}" srcOrd="2" destOrd="0" presId="urn:microsoft.com/office/officeart/2016/7/layout/LinearBlockProcessNumbered"/>
    <dgm:cxn modelId="{B41B2915-E5D0-4D43-8178-2F8DE45455C5}" type="presParOf" srcId="{15E48559-3098-774D-B655-496772888158}" destId="{CC38FB12-F8A6-2542-B002-DE8E85503CD4}" srcOrd="3" destOrd="0" presId="urn:microsoft.com/office/officeart/2016/7/layout/LinearBlockProcessNumbered"/>
    <dgm:cxn modelId="{EB3570E8-91E0-3A47-B3A5-5DB1C35A7FA8}" type="presParOf" srcId="{15E48559-3098-774D-B655-496772888158}" destId="{49956F07-EDAA-7C46-A303-D84DFFD9F4F6}" srcOrd="4" destOrd="0" presId="urn:microsoft.com/office/officeart/2016/7/layout/LinearBlockProcessNumbered"/>
    <dgm:cxn modelId="{14E5EC85-F8C3-F845-842D-F39A6D86404F}" type="presParOf" srcId="{49956F07-EDAA-7C46-A303-D84DFFD9F4F6}" destId="{D2D7AE62-7E8D-E040-8F3C-E1785CB9DF42}" srcOrd="0" destOrd="0" presId="urn:microsoft.com/office/officeart/2016/7/layout/LinearBlockProcessNumbered"/>
    <dgm:cxn modelId="{81548187-33E4-F941-A45F-37CA7B890776}" type="presParOf" srcId="{49956F07-EDAA-7C46-A303-D84DFFD9F4F6}" destId="{3F63EB9E-A1AC-5F4E-B0F0-9D0B7E8751ED}" srcOrd="1" destOrd="0" presId="urn:microsoft.com/office/officeart/2016/7/layout/LinearBlockProcessNumbered"/>
    <dgm:cxn modelId="{9B62AEC3-8517-C24C-9388-93F9430A94C8}" type="presParOf" srcId="{49956F07-EDAA-7C46-A303-D84DFFD9F4F6}" destId="{A2D94FDD-B75C-6A44-BE5C-1D3FF67C6305}" srcOrd="2" destOrd="0" presId="urn:microsoft.com/office/officeart/2016/7/layout/LinearBlockProcessNumbered"/>
    <dgm:cxn modelId="{E9F4BB05-D03D-5547-8DDD-A7E7A022CE00}" type="presParOf" srcId="{15E48559-3098-774D-B655-496772888158}" destId="{649DA001-9901-3243-BB96-B0DE9600A450}" srcOrd="5" destOrd="0" presId="urn:microsoft.com/office/officeart/2016/7/layout/LinearBlockProcessNumbered"/>
    <dgm:cxn modelId="{326D27D4-A82D-C648-8022-887468A57340}" type="presParOf" srcId="{15E48559-3098-774D-B655-496772888158}" destId="{7C131629-25FD-454A-9025-DD6F02A8F5A8}" srcOrd="6" destOrd="0" presId="urn:microsoft.com/office/officeart/2016/7/layout/LinearBlockProcessNumbered"/>
    <dgm:cxn modelId="{5C3C9B6E-2EB4-1A40-A2EE-9EC95F0FA048}" type="presParOf" srcId="{7C131629-25FD-454A-9025-DD6F02A8F5A8}" destId="{108CCE02-B1E2-5844-B66F-BC5370DC1068}" srcOrd="0" destOrd="0" presId="urn:microsoft.com/office/officeart/2016/7/layout/LinearBlockProcessNumbered"/>
    <dgm:cxn modelId="{4D88BAD7-B252-EB42-A44F-0AD3D48C3E63}" type="presParOf" srcId="{7C131629-25FD-454A-9025-DD6F02A8F5A8}" destId="{062FC05A-796E-F84E-8C22-16A303C6452E}" srcOrd="1" destOrd="0" presId="urn:microsoft.com/office/officeart/2016/7/layout/LinearBlockProcessNumbered"/>
    <dgm:cxn modelId="{0D0716E1-35F1-4144-9956-321A5B690D32}" type="presParOf" srcId="{7C131629-25FD-454A-9025-DD6F02A8F5A8}" destId="{2BE112C1-290A-A944-99D0-CEAF5A6E58EE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0CF750-F062-1B41-83B1-14DA46A51FF4}">
      <dsp:nvSpPr>
        <dsp:cNvPr id="0" name=""/>
        <dsp:cNvSpPr/>
      </dsp:nvSpPr>
      <dsp:spPr>
        <a:xfrm>
          <a:off x="205" y="486439"/>
          <a:ext cx="2479997" cy="297599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2100" kern="1200"/>
            <a:t>간단한 회로도 및 구성도</a:t>
          </a:r>
          <a:endParaRPr lang="en-US" sz="2100" kern="1200"/>
        </a:p>
      </dsp:txBody>
      <dsp:txXfrm>
        <a:off x="205" y="1676838"/>
        <a:ext cx="2479997" cy="1785598"/>
      </dsp:txXfrm>
    </dsp:sp>
    <dsp:sp modelId="{98B1AFEB-2C31-C84A-AA41-2D1F917DD43D}">
      <dsp:nvSpPr>
        <dsp:cNvPr id="0" name=""/>
        <dsp:cNvSpPr/>
      </dsp:nvSpPr>
      <dsp:spPr>
        <a:xfrm>
          <a:off x="205" y="486439"/>
          <a:ext cx="2479997" cy="1190398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01</a:t>
          </a:r>
        </a:p>
      </dsp:txBody>
      <dsp:txXfrm>
        <a:off x="205" y="486439"/>
        <a:ext cx="2479997" cy="1190398"/>
      </dsp:txXfrm>
    </dsp:sp>
    <dsp:sp modelId="{405244ED-7435-2B4F-9BE3-BB04D7EBD8B1}">
      <dsp:nvSpPr>
        <dsp:cNvPr id="0" name=""/>
        <dsp:cNvSpPr/>
      </dsp:nvSpPr>
      <dsp:spPr>
        <a:xfrm>
          <a:off x="2678602" y="486439"/>
          <a:ext cx="2479997" cy="297599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2100" kern="1200"/>
            <a:t>멀티콥터의 계산 과정 및 각각의 파라미터</a:t>
          </a:r>
          <a:endParaRPr lang="en-US" sz="2100" kern="1200"/>
        </a:p>
      </dsp:txBody>
      <dsp:txXfrm>
        <a:off x="2678602" y="1676838"/>
        <a:ext cx="2479997" cy="1785598"/>
      </dsp:txXfrm>
    </dsp:sp>
    <dsp:sp modelId="{4809FA5C-EC4B-D946-A4C6-44ACA606EC6A}">
      <dsp:nvSpPr>
        <dsp:cNvPr id="0" name=""/>
        <dsp:cNvSpPr/>
      </dsp:nvSpPr>
      <dsp:spPr>
        <a:xfrm>
          <a:off x="2678602" y="486439"/>
          <a:ext cx="2479997" cy="1190398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02</a:t>
          </a:r>
        </a:p>
      </dsp:txBody>
      <dsp:txXfrm>
        <a:off x="2678602" y="486439"/>
        <a:ext cx="2479997" cy="1190398"/>
      </dsp:txXfrm>
    </dsp:sp>
    <dsp:sp modelId="{D2D7AE62-7E8D-E040-8F3C-E1785CB9DF42}">
      <dsp:nvSpPr>
        <dsp:cNvPr id="0" name=""/>
        <dsp:cNvSpPr/>
      </dsp:nvSpPr>
      <dsp:spPr>
        <a:xfrm>
          <a:off x="5356999" y="486439"/>
          <a:ext cx="2479997" cy="297599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2100" kern="1200"/>
            <a:t>고정익과의 연결점</a:t>
          </a:r>
          <a:endParaRPr lang="en-US" sz="2100" kern="1200"/>
        </a:p>
      </dsp:txBody>
      <dsp:txXfrm>
        <a:off x="5356999" y="1676838"/>
        <a:ext cx="2479997" cy="1785598"/>
      </dsp:txXfrm>
    </dsp:sp>
    <dsp:sp modelId="{3F63EB9E-A1AC-5F4E-B0F0-9D0B7E8751ED}">
      <dsp:nvSpPr>
        <dsp:cNvPr id="0" name=""/>
        <dsp:cNvSpPr/>
      </dsp:nvSpPr>
      <dsp:spPr>
        <a:xfrm>
          <a:off x="5356999" y="486439"/>
          <a:ext cx="2479997" cy="1190398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03</a:t>
          </a:r>
        </a:p>
      </dsp:txBody>
      <dsp:txXfrm>
        <a:off x="5356999" y="486439"/>
        <a:ext cx="2479997" cy="1190398"/>
      </dsp:txXfrm>
    </dsp:sp>
    <dsp:sp modelId="{108CCE02-B1E2-5844-B66F-BC5370DC1068}">
      <dsp:nvSpPr>
        <dsp:cNvPr id="0" name=""/>
        <dsp:cNvSpPr/>
      </dsp:nvSpPr>
      <dsp:spPr>
        <a:xfrm>
          <a:off x="8035397" y="486439"/>
          <a:ext cx="2479997" cy="297599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2100" kern="1200"/>
            <a:t>VTOL</a:t>
          </a:r>
          <a:r>
            <a:rPr kumimoji="1" lang="ko-KR" sz="2100" kern="1200"/>
            <a:t>과의 연결점</a:t>
          </a:r>
          <a:endParaRPr lang="en-US" sz="2100" kern="1200"/>
        </a:p>
      </dsp:txBody>
      <dsp:txXfrm>
        <a:off x="8035397" y="1676838"/>
        <a:ext cx="2479997" cy="1785598"/>
      </dsp:txXfrm>
    </dsp:sp>
    <dsp:sp modelId="{062FC05A-796E-F84E-8C22-16A303C6452E}">
      <dsp:nvSpPr>
        <dsp:cNvPr id="0" name=""/>
        <dsp:cNvSpPr/>
      </dsp:nvSpPr>
      <dsp:spPr>
        <a:xfrm>
          <a:off x="8035397" y="486439"/>
          <a:ext cx="2479997" cy="1190398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04</a:t>
          </a:r>
        </a:p>
      </dsp:txBody>
      <dsp:txXfrm>
        <a:off x="8035397" y="486439"/>
        <a:ext cx="2479997" cy="11903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EE50DA-5280-D4C1-B988-17834DE767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11B652-C10A-FDAF-1BAF-D11A474139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64F4DB-E268-B499-AFC5-369EFFCA4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A0EDE-41FB-B24A-8DD3-CFC10F4E3EFC}" type="datetimeFigureOut">
              <a:rPr kumimoji="1" lang="ko-KR" altLang="en-US" smtClean="0"/>
              <a:t>2025. 10. 29.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6BE59B-67D3-0724-DB0E-8CB35F614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89A40C-8AD2-BD02-A33E-1C9DE618C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E19-E56E-854F-8347-5D0DFAC0F99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63600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606954-5F2A-6A0C-3389-E17F0933E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B2371C-7A33-0574-3A59-D8E24B6A8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D414CE-32E0-0B83-446C-E11CEA40C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A0EDE-41FB-B24A-8DD3-CFC10F4E3EFC}" type="datetimeFigureOut">
              <a:rPr kumimoji="1" lang="ko-KR" altLang="en-US" smtClean="0"/>
              <a:t>2025. 10. 29.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30067A-A5A9-3BF1-4B6A-D937CE2E6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D2CB64-07A5-B6F9-E097-AA157E840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E19-E56E-854F-8347-5D0DFAC0F99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52787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FCDEDB-9044-588D-8979-B31325F43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CA88F0-4E2D-3040-ABB4-1484A6A52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43EAE2-23CE-1624-2FBA-F6811F0BD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A0EDE-41FB-B24A-8DD3-CFC10F4E3EFC}" type="datetimeFigureOut">
              <a:rPr kumimoji="1" lang="ko-KR" altLang="en-US" smtClean="0"/>
              <a:t>2025. 10. 29.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C6D15B-DFB6-216F-281B-3D939FC78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B26822-4452-7530-F8E2-DF7DC3C61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E19-E56E-854F-8347-5D0DFAC0F99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73170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D0A5D8-BCF2-CCA8-EB96-13ABCC828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7AE02A-AC39-CA6E-04F7-FD10538EF6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E927668-A1EF-913A-34EF-791811AD8D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4F949D-B82C-294D-20E0-537E0D5CC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A0EDE-41FB-B24A-8DD3-CFC10F4E3EFC}" type="datetimeFigureOut">
              <a:rPr kumimoji="1" lang="ko-KR" altLang="en-US" smtClean="0"/>
              <a:t>2025. 10. 29.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28D47C9-F10E-86B5-17E1-6E2E61446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CD63995-F993-5306-49FE-93C79D7D0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E19-E56E-854F-8347-5D0DFAC0F99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06716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3656CE-86DA-754B-5B34-ED2CD6E3C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56B167-23DC-593C-1A33-EF3C11EDB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0A40E19-9D60-0A89-5083-46967AB711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C46E7C8-9547-D1CD-BB76-5CA0536425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BFF87D6-D528-13C5-AA41-DE1DB1735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41CA6D2-BC3C-EC22-6E0C-76E538A47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A0EDE-41FB-B24A-8DD3-CFC10F4E3EFC}" type="datetimeFigureOut">
              <a:rPr kumimoji="1" lang="ko-KR" altLang="en-US" smtClean="0"/>
              <a:t>2025. 10. 29.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4CE327F-9CAB-51C3-7BC4-3F67182B9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148B06C-01CC-3C50-C422-608D3B39A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E19-E56E-854F-8347-5D0DFAC0F99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73293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566F27-EDFD-10C1-3974-7DF56D43F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82C5D19-9E87-23D3-A069-E7BD30E8C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A0EDE-41FB-B24A-8DD3-CFC10F4E3EFC}" type="datetimeFigureOut">
              <a:rPr kumimoji="1" lang="ko-KR" altLang="en-US" smtClean="0"/>
              <a:t>2025. 10. 29.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48EDF38-8D89-E747-3545-0B95D8B2C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D6A7FDC-F6DC-B685-5008-26E357923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E19-E56E-854F-8347-5D0DFAC0F99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50154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883C0BD-E830-359C-DD5A-C38239A82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A0EDE-41FB-B24A-8DD3-CFC10F4E3EFC}" type="datetimeFigureOut">
              <a:rPr kumimoji="1" lang="ko-KR" altLang="en-US" smtClean="0"/>
              <a:t>2025. 10. 29.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9A80D37-B646-E663-968E-32334CEE7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236701-1D7B-ADD1-4C08-A600F3F39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E19-E56E-854F-8347-5D0DFAC0F99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11439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BDC033-5293-6655-42E9-9A2443913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9388EE-F19B-1268-A1D9-28B3DB099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0AE3093-4C17-A9C0-9600-7EC5072F2C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3F991E5-70F4-949D-C2ED-A2BFFE92D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A0EDE-41FB-B24A-8DD3-CFC10F4E3EFC}" type="datetimeFigureOut">
              <a:rPr kumimoji="1" lang="ko-KR" altLang="en-US" smtClean="0"/>
              <a:t>2025. 10. 29.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57AB116-6636-14FA-4DE8-6D8608A26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48DC5C-76C7-72B5-5003-93FFA6255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E19-E56E-854F-8347-5D0DFAC0F99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6874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3C3E09-C52D-5AD4-3E71-5CC3E5891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45A8F0C-65D2-1D3C-699E-48E81FD889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FA2D1C6-48FB-7059-5E2F-2E1CCE82A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4E5D095-4B35-C1B9-C2D7-9CC070AF0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A0EDE-41FB-B24A-8DD3-CFC10F4E3EFC}" type="datetimeFigureOut">
              <a:rPr kumimoji="1" lang="ko-KR" altLang="en-US" smtClean="0"/>
              <a:t>2025. 10. 29.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75416C-8B06-DA41-CB5F-5B0393C8A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F0341D7-6CEC-FCF2-9535-D46978FC9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E19-E56E-854F-8347-5D0DFAC0F99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63847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ACBE05-132C-2FB9-0528-5968C4B72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44C410E-4A70-4A03-924A-69BA995E58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5226B8-19E7-C15C-FAA3-F7E3D6ECC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A0EDE-41FB-B24A-8DD3-CFC10F4E3EFC}" type="datetimeFigureOut">
              <a:rPr kumimoji="1" lang="ko-KR" altLang="en-US" smtClean="0"/>
              <a:t>2025. 10. 29.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E3F8F4-802D-60D0-F219-1C66AF92D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2546FA-F8A4-2DC6-1BD7-1B25660AA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E19-E56E-854F-8347-5D0DFAC0F99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97061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FF25CDE-5AB3-67C6-DB17-C5C48DA65C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E64D017-12BC-F09B-59E2-6E42EE3B67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C5E09F-60A8-A61E-510D-FFC1BA4F1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A0EDE-41FB-B24A-8DD3-CFC10F4E3EFC}" type="datetimeFigureOut">
              <a:rPr kumimoji="1" lang="ko-KR" altLang="en-US" smtClean="0"/>
              <a:t>2025. 10. 29.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9D7533-CA69-A269-956A-552F4F1D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079D13-B937-BB73-B010-88FA235D8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E19-E56E-854F-8347-5D0DFAC0F99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1097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BCF3893-3361-15B9-63B8-3E5EA0B4A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D3C1A93-DB6E-1B9B-4D66-B17EF82E0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ADFDCA-A2AD-0BE0-EF59-296BE717EB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BA0EDE-41FB-B24A-8DD3-CFC10F4E3EFC}" type="datetimeFigureOut">
              <a:rPr kumimoji="1" lang="ko-KR" altLang="en-US" smtClean="0"/>
              <a:t>2025. 10. 29.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D525FB-484C-F025-7E63-36528BB1D0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B3FFBE-6423-231F-EC34-2CDCC0750F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57FE19-E56E-854F-8347-5D0DFAC0F99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63716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095C1F4-AE7F-44E4-8693-40D3D6831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-15978"/>
            <a:ext cx="7147352" cy="5876916"/>
            <a:chOff x="329184" y="-99107"/>
            <a:chExt cx="524256" cy="587691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-99107"/>
              <a:ext cx="524256" cy="5631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1055718"/>
            <a:ext cx="10999072" cy="33583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6424092-ABAE-74C5-BF8F-8C55954FD0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84683"/>
            <a:ext cx="9144000" cy="2551829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4000" dirty="0"/>
              <a:t>Pixhawk</a:t>
            </a:r>
            <a:r>
              <a:rPr kumimoji="1" lang="ko-KR" altLang="en-US" sz="4000" dirty="0"/>
              <a:t>및 </a:t>
            </a:r>
            <a:r>
              <a:rPr kumimoji="1" lang="en-US" altLang="ko-KR" sz="4000" dirty="0"/>
              <a:t>PX4</a:t>
            </a:r>
            <a:r>
              <a:rPr kumimoji="1" lang="ko-KR" altLang="en-US" sz="4000" dirty="0"/>
              <a:t>개발을 위한 기본 개념</a:t>
            </a:r>
            <a:br>
              <a:rPr kumimoji="1" lang="en-US" altLang="ko-KR" sz="4000" dirty="0"/>
            </a:br>
            <a:r>
              <a:rPr kumimoji="1" lang="ko-KR" altLang="en-US" sz="4000" dirty="0"/>
              <a:t>및 파라미터 소개</a:t>
            </a:r>
          </a:p>
        </p:txBody>
      </p:sp>
    </p:spTree>
    <p:extLst>
      <p:ext uri="{BB962C8B-B14F-4D97-AF65-F5344CB8AC3E}">
        <p14:creationId xmlns:p14="http://schemas.microsoft.com/office/powerpoint/2010/main" val="3920610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0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29B9B6C-E5D4-AC20-0392-DDE0F2A37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ko-KR" altLang="en-US" sz="5400"/>
              <a:t>목차</a:t>
            </a:r>
          </a:p>
        </p:txBody>
      </p:sp>
      <p:sp>
        <p:nvSpPr>
          <p:cNvPr id="40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6" name="내용 개체 틀 2">
            <a:extLst>
              <a:ext uri="{FF2B5EF4-FFF2-40B4-BE49-F238E27FC236}">
                <a16:creationId xmlns:a16="http://schemas.microsoft.com/office/drawing/2014/main" id="{5C464A1D-E98B-E946-D0EE-F681CC2995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5140145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5168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355C60B-35EB-B210-19F9-BEAD08C41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kumimoji="1" lang="en-US" altLang="ko-KR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Flight controller (only)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AD37F870-1DF9-ADBE-5E39-0A592078D1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37794" y="625684"/>
            <a:ext cx="6361960" cy="545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071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4ECC940-8481-29FD-8726-F7A466F30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kumimoji="1" lang="en-US" altLang="ko-KR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FC and Companion Computer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9AA196AF-B6CB-1F3A-AB7B-91968A3433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14356" y="1334591"/>
            <a:ext cx="6408836" cy="4037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562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96C8BAF-68F3-4B78-B238-35DF5D865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F4CD6D0-5A87-4BA2-A13A-0E40511C3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4774" y="699565"/>
            <a:ext cx="3553132" cy="5156200"/>
            <a:chOff x="7807230" y="2012810"/>
            <a:chExt cx="3251252" cy="345986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877EAC0-2063-444D-8EE9-72FED2E03B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C155BF8-661A-4F4A-B4EC-923105C69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그래픽 1">
            <a:extLst>
              <a:ext uri="{FF2B5EF4-FFF2-40B4-BE49-F238E27FC236}">
                <a16:creationId xmlns:a16="http://schemas.microsoft.com/office/drawing/2014/main" id="{6F8862E1-608E-A5C7-D0BC-C4BEF7BC8D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706" y="872793"/>
            <a:ext cx="3023267" cy="4809744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E9537076-EF48-4F72-9164-FD8260D55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19434" y="699565"/>
            <a:ext cx="3553132" cy="5156200"/>
            <a:chOff x="7807230" y="2012810"/>
            <a:chExt cx="3251252" cy="345986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89673CB-C48B-4D05-B6E4-B88CD5BAA0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6C31A20-B341-476E-8C04-A26C87E14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그래픽 1">
            <a:extLst>
              <a:ext uri="{FF2B5EF4-FFF2-40B4-BE49-F238E27FC236}">
                <a16:creationId xmlns:a16="http://schemas.microsoft.com/office/drawing/2014/main" id="{79EAFF05-05E7-C602-CB39-ED92CC6FFA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61436"/>
          <a:stretch>
            <a:fillRect/>
          </a:stretch>
        </p:blipFill>
        <p:spPr>
          <a:xfrm>
            <a:off x="4487333" y="2293108"/>
            <a:ext cx="3209544" cy="1969113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6EFC3492-86BD-4D75-B5B4-C2DBFE0B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104093" y="699565"/>
            <a:ext cx="3553132" cy="5156200"/>
            <a:chOff x="7807230" y="2012810"/>
            <a:chExt cx="3251252" cy="345986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72E5074-2516-4705-BFF1-F508394A0A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2259E4C-F24C-4180-AEC3-76255D535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그래픽 1">
            <a:extLst>
              <a:ext uri="{FF2B5EF4-FFF2-40B4-BE49-F238E27FC236}">
                <a16:creationId xmlns:a16="http://schemas.microsoft.com/office/drawing/2014/main" id="{1D80B33C-F4B1-E7A9-EDB2-078598C4A9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40436"/>
          <a:stretch>
            <a:fillRect/>
          </a:stretch>
        </p:blipFill>
        <p:spPr>
          <a:xfrm>
            <a:off x="8275887" y="1756969"/>
            <a:ext cx="3209544" cy="3041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681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E71BCA93-98C6-CD72-EB4B-1A5FFFF9D4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0142"/>
          <a:stretch>
            <a:fillRect/>
          </a:stretch>
        </p:blipFill>
        <p:spPr>
          <a:xfrm>
            <a:off x="1734413" y="284932"/>
            <a:ext cx="8723173" cy="3560769"/>
          </a:xfrm>
          <a:prstGeom prst="rect">
            <a:avLst/>
          </a:prstGeom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53AC984-E7CC-6098-7550-75DEECB785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207626"/>
              </p:ext>
            </p:extLst>
          </p:nvPr>
        </p:nvGraphicFramePr>
        <p:xfrm>
          <a:off x="1205948" y="3845701"/>
          <a:ext cx="9780104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45026">
                  <a:extLst>
                    <a:ext uri="{9D8B030D-6E8A-4147-A177-3AD203B41FA5}">
                      <a16:colId xmlns:a16="http://schemas.microsoft.com/office/drawing/2014/main" val="731979946"/>
                    </a:ext>
                  </a:extLst>
                </a:gridCol>
                <a:gridCol w="2445026">
                  <a:extLst>
                    <a:ext uri="{9D8B030D-6E8A-4147-A177-3AD203B41FA5}">
                      <a16:colId xmlns:a16="http://schemas.microsoft.com/office/drawing/2014/main" val="1852158105"/>
                    </a:ext>
                  </a:extLst>
                </a:gridCol>
                <a:gridCol w="2445026">
                  <a:extLst>
                    <a:ext uri="{9D8B030D-6E8A-4147-A177-3AD203B41FA5}">
                      <a16:colId xmlns:a16="http://schemas.microsoft.com/office/drawing/2014/main" val="1070880499"/>
                    </a:ext>
                  </a:extLst>
                </a:gridCol>
                <a:gridCol w="2445026">
                  <a:extLst>
                    <a:ext uri="{9D8B030D-6E8A-4147-A177-3AD203B41FA5}">
                      <a16:colId xmlns:a16="http://schemas.microsoft.com/office/drawing/2014/main" val="37709411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dirty="0" err="1"/>
                        <a:t>X_sp</a:t>
                      </a:r>
                      <a:r>
                        <a:rPr kumimoji="1" lang="en-US" altLang="ko-KR" dirty="0"/>
                        <a:t> : </a:t>
                      </a:r>
                      <a:r>
                        <a:rPr kumimoji="1" lang="ko-KR" altLang="en-US" dirty="0"/>
                        <a:t>위치 목표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dirty="0" err="1"/>
                        <a:t>V_sp</a:t>
                      </a:r>
                      <a:r>
                        <a:rPr kumimoji="1" lang="en-US" altLang="ko-KR" dirty="0"/>
                        <a:t> : </a:t>
                      </a:r>
                      <a:r>
                        <a:rPr kumimoji="1" lang="ko-KR" altLang="en-US" dirty="0"/>
                        <a:t>속도 목표</a:t>
                      </a:r>
                      <a:endParaRPr kumimoji="1" lang="en-US" altLang="ko-KR" dirty="0"/>
                    </a:p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dirty="0" err="1"/>
                        <a:t>A_sp</a:t>
                      </a:r>
                      <a:r>
                        <a:rPr kumimoji="1" lang="en-US" altLang="ko-KR" dirty="0"/>
                        <a:t> : </a:t>
                      </a:r>
                      <a:r>
                        <a:rPr kumimoji="1" lang="ko-KR" altLang="en-US" dirty="0"/>
                        <a:t>가속도 목표</a:t>
                      </a:r>
                      <a:endParaRPr kumimoji="1" lang="en-US" altLang="ko-KR" dirty="0"/>
                    </a:p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dirty="0" err="1"/>
                        <a:t>q_sp</a:t>
                      </a:r>
                      <a:r>
                        <a:rPr kumimoji="1" lang="en-US" altLang="ko-KR" dirty="0"/>
                        <a:t> : </a:t>
                      </a:r>
                      <a:r>
                        <a:rPr kumimoji="1" lang="ko-KR" altLang="en-US" dirty="0"/>
                        <a:t>자세 목표</a:t>
                      </a:r>
                      <a:endParaRPr kumimoji="1" lang="en-US" altLang="ko-KR" dirty="0"/>
                    </a:p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9226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altLang="ko-KR" dirty="0"/>
                        <a:t>Ω</a:t>
                      </a:r>
                      <a:r>
                        <a:rPr lang="en-US" altLang="ko-KR" dirty="0"/>
                        <a:t>_</a:t>
                      </a:r>
                      <a:r>
                        <a:rPr lang="en" altLang="ko-KR" dirty="0" err="1"/>
                        <a:t>sp</a:t>
                      </a:r>
                      <a:r>
                        <a:rPr lang="en" altLang="ko-KR" dirty="0"/>
                        <a:t>​=</a:t>
                      </a:r>
                      <a:r>
                        <a:rPr lang="ko-KR" altLang="en-US" dirty="0"/>
                        <a:t>각속도 목표</a:t>
                      </a:r>
                      <a:endParaRPr lang="en-US" altLang="ko-KR" dirty="0"/>
                    </a:p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altLang="ko-KR" dirty="0"/>
                        <a:t>δ</a:t>
                      </a:r>
                      <a:r>
                        <a:rPr lang="en-US" altLang="ko-KR" dirty="0"/>
                        <a:t>_</a:t>
                      </a:r>
                      <a:r>
                        <a:rPr lang="el-GR" altLang="ko-KR" dirty="0"/>
                        <a:t>\*​=</a:t>
                      </a:r>
                      <a:r>
                        <a:rPr lang="ko-KR" altLang="en-US" dirty="0"/>
                        <a:t>토크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추력 명령</a:t>
                      </a:r>
                      <a:endParaRPr lang="en-US" altLang="ko-KR" dirty="0"/>
                    </a:p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dirty="0"/>
                        <a:t>T</a:t>
                      </a:r>
                      <a:r>
                        <a:rPr lang="en-US" altLang="ko-KR" dirty="0"/>
                        <a:t>_</a:t>
                      </a:r>
                      <a:r>
                        <a:rPr lang="en" altLang="ko-KR" dirty="0" err="1"/>
                        <a:t>sp</a:t>
                      </a:r>
                      <a:r>
                        <a:rPr lang="en" altLang="ko-KR" dirty="0"/>
                        <a:t>​=</a:t>
                      </a:r>
                      <a:r>
                        <a:rPr lang="ko-KR" altLang="en-US" dirty="0" err="1"/>
                        <a:t>총추력</a:t>
                      </a:r>
                      <a:endParaRPr kumimoji="1" lang="ko-KR" altLang="en-US" dirty="0"/>
                    </a:p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781796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C85C14A-C360-A4B1-3863-C707DC058A8A}"/>
              </a:ext>
            </a:extLst>
          </p:cNvPr>
          <p:cNvSpPr txBox="1"/>
          <p:nvPr/>
        </p:nvSpPr>
        <p:spPr>
          <a:xfrm>
            <a:off x="387082" y="5649738"/>
            <a:ext cx="68435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Inertial</a:t>
            </a:r>
            <a:r>
              <a:rPr kumimoji="1" lang="ko-KR" altLang="en-US" dirty="0"/>
              <a:t> </a:t>
            </a:r>
            <a:r>
              <a:rPr kumimoji="1" lang="en-US" altLang="ko-KR" dirty="0"/>
              <a:t>Frame,</a:t>
            </a:r>
            <a:r>
              <a:rPr kumimoji="1" lang="ko-KR" altLang="en-US" dirty="0"/>
              <a:t> 왼쪽부분 </a:t>
            </a:r>
            <a:r>
              <a:rPr kumimoji="1" lang="en-US" altLang="ko-KR" dirty="0"/>
              <a:t>:</a:t>
            </a:r>
            <a:r>
              <a:rPr kumimoji="1" lang="ko-KR" altLang="en-US" dirty="0"/>
              <a:t> 어디로 </a:t>
            </a:r>
            <a:r>
              <a:rPr kumimoji="1" lang="ko-KR" altLang="en-US" dirty="0" err="1"/>
              <a:t>갈까의</a:t>
            </a:r>
            <a:r>
              <a:rPr kumimoji="1" lang="ko-KR" altLang="en-US" dirty="0"/>
              <a:t> 계산 </a:t>
            </a:r>
            <a:r>
              <a:rPr kumimoji="1" lang="en-US" altLang="ko-KR" dirty="0"/>
              <a:t>-&gt;</a:t>
            </a:r>
            <a:r>
              <a:rPr kumimoji="1" lang="ko-KR" altLang="en-US" dirty="0"/>
              <a:t> 위치</a:t>
            </a:r>
            <a:r>
              <a:rPr kumimoji="1" lang="en-US" altLang="ko-KR" dirty="0"/>
              <a:t>/</a:t>
            </a:r>
            <a:r>
              <a:rPr kumimoji="1" lang="ko-KR" altLang="en-US" dirty="0"/>
              <a:t>속도</a:t>
            </a:r>
            <a:endParaRPr kumimoji="1" lang="en-US" altLang="ko-KR" dirty="0"/>
          </a:p>
          <a:p>
            <a:r>
              <a:rPr kumimoji="1" lang="en-US" altLang="ko-KR" dirty="0"/>
              <a:t>Body Frame,</a:t>
            </a:r>
            <a:r>
              <a:rPr kumimoji="1" lang="ko-KR" altLang="en-US" dirty="0"/>
              <a:t> 오른쪽 부분 </a:t>
            </a:r>
            <a:r>
              <a:rPr kumimoji="1" lang="en-US" altLang="ko-KR" dirty="0"/>
              <a:t>: </a:t>
            </a:r>
            <a:r>
              <a:rPr kumimoji="1" lang="ko-KR" altLang="en-US" dirty="0"/>
              <a:t>어떻게 갈까</a:t>
            </a:r>
            <a:r>
              <a:rPr kumimoji="1" lang="en-US" altLang="ko-KR" dirty="0"/>
              <a:t>?</a:t>
            </a:r>
            <a:r>
              <a:rPr kumimoji="1" lang="ko-KR" altLang="en-US" dirty="0"/>
              <a:t>의 계산 </a:t>
            </a:r>
            <a:r>
              <a:rPr kumimoji="1" lang="en-US" altLang="ko-KR" dirty="0"/>
              <a:t>-&gt;</a:t>
            </a:r>
            <a:r>
              <a:rPr kumimoji="1" lang="ko-KR" altLang="en-US" dirty="0"/>
              <a:t> 자세</a:t>
            </a:r>
            <a:r>
              <a:rPr kumimoji="1" lang="en-US" altLang="ko-KR" dirty="0"/>
              <a:t>,</a:t>
            </a:r>
            <a:r>
              <a:rPr kumimoji="1" lang="ko-KR" altLang="en-US" dirty="0"/>
              <a:t> 각속도</a:t>
            </a:r>
            <a:endParaRPr kumimoji="1" lang="en-US" altLang="ko-KR" dirty="0"/>
          </a:p>
          <a:p>
            <a:endParaRPr kumimoji="1"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F34B92-4549-5C1B-FF72-F4CAF03014C2}"/>
              </a:ext>
            </a:extLst>
          </p:cNvPr>
          <p:cNvSpPr txBox="1"/>
          <p:nvPr/>
        </p:nvSpPr>
        <p:spPr>
          <a:xfrm>
            <a:off x="7660547" y="5649738"/>
            <a:ext cx="46129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/>
              <a:t>PX4</a:t>
            </a:r>
            <a:r>
              <a:rPr kumimoji="1" lang="ko-KR" altLang="en-US" sz="1600" dirty="0"/>
              <a:t>가 계산을 자동적으로 수행한다</a:t>
            </a:r>
            <a:r>
              <a:rPr kumimoji="1" lang="en-US" altLang="ko-KR" sz="1600" dirty="0"/>
              <a:t>.</a:t>
            </a:r>
          </a:p>
          <a:p>
            <a:r>
              <a:rPr kumimoji="1" lang="ko-KR" altLang="en-US" sz="1600" dirty="0"/>
              <a:t>우리가 </a:t>
            </a:r>
            <a:r>
              <a:rPr kumimoji="1" lang="ko-KR" altLang="en-US" sz="1600" dirty="0" err="1"/>
              <a:t>변경해아</a:t>
            </a:r>
            <a:r>
              <a:rPr kumimoji="1" lang="ko-KR" altLang="en-US" sz="1600" dirty="0"/>
              <a:t> 할 것은 각각의 함수의 </a:t>
            </a:r>
            <a:r>
              <a:rPr kumimoji="1" lang="en-US" altLang="ko-KR" sz="1600" dirty="0"/>
              <a:t>Gain, limit, filter</a:t>
            </a:r>
            <a:r>
              <a:rPr kumimoji="1" lang="ko-KR" altLang="en-US" sz="1600" dirty="0" err="1"/>
              <a:t>를</a:t>
            </a:r>
            <a:r>
              <a:rPr kumimoji="1" lang="ko-KR" altLang="en-US" sz="1600" dirty="0"/>
              <a:t> 바꾸어 주는 것 </a:t>
            </a:r>
            <a:r>
              <a:rPr kumimoji="1" lang="en-US" altLang="ko-KR" sz="1600" dirty="0"/>
              <a:t>(Parameter </a:t>
            </a:r>
            <a:r>
              <a:rPr kumimoji="1" lang="ko-KR" altLang="en-US" sz="1600" dirty="0"/>
              <a:t>변경</a:t>
            </a:r>
            <a:r>
              <a:rPr kumimoji="1" lang="en-US" altLang="ko-KR" sz="1600" dirty="0"/>
              <a:t>)</a:t>
            </a:r>
            <a:endParaRPr kumimoji="1"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566728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D7B002-EC2E-D0C4-B0D7-2BB01688E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13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4" name="Arc 15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9B74E7FA-BDEE-8E8D-78FE-2BE3BA8358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9065" b="40142"/>
          <a:stretch>
            <a:fillRect/>
          </a:stretch>
        </p:blipFill>
        <p:spPr>
          <a:xfrm>
            <a:off x="703182" y="2516060"/>
            <a:ext cx="4777381" cy="1656136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AAFAD3C-5C15-D7CD-69EC-BF9F2BDE7865}"/>
              </a:ext>
            </a:extLst>
          </p:cNvPr>
          <p:cNvSpPr txBox="1"/>
          <p:nvPr/>
        </p:nvSpPr>
        <p:spPr>
          <a:xfrm>
            <a:off x="5894962" y="1984443"/>
            <a:ext cx="5458838" cy="4192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ko-KR" sz="1100" b="1"/>
              <a:t>- Position Control (P)</a:t>
            </a: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ko-KR" sz="1100"/>
              <a:t>“</a:t>
            </a:r>
            <a:r>
              <a:rPr kumimoji="1" lang="ko-KR" altLang="en-US" sz="1100"/>
              <a:t>목표 위치까지 얼마나 빨리 갈지</a:t>
            </a:r>
            <a:r>
              <a:rPr kumimoji="1" lang="en-US" altLang="ko-KR" sz="1100"/>
              <a:t>”</a:t>
            </a:r>
            <a:r>
              <a:rPr kumimoji="1" lang="ko-KR" altLang="en-US" sz="1100"/>
              <a:t>의 목표 생성</a:t>
            </a:r>
            <a:endParaRPr kumimoji="1" lang="en-US" altLang="ko-KR" sz="1100"/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ko-KR" sz="1100"/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ko-KR" sz="1100" b="1"/>
              <a:t>- Velocity Control (PID)</a:t>
            </a: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ko-KR" altLang="en-US" sz="1100"/>
              <a:t>속도 오차를 줄이기 위한 가속도 명령</a:t>
            </a:r>
            <a:endParaRPr kumimoji="1" lang="en-US" altLang="ko-KR" sz="1100"/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ko-KR" sz="1100"/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ko-KR" sz="1100" b="1"/>
              <a:t>- Acceleration and Yaw to Attitude</a:t>
            </a: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ko-KR" altLang="en-US" sz="1100"/>
              <a:t>이 가속도를 내려면 얼마나 기울이고</a:t>
            </a:r>
            <a:r>
              <a:rPr kumimoji="1" lang="en-US" altLang="ko-KR" sz="1100"/>
              <a:t>, </a:t>
            </a:r>
            <a:r>
              <a:rPr kumimoji="1" lang="ko-KR" altLang="en-US" sz="1100"/>
              <a:t>얼마나 추력을 내아할까</a:t>
            </a:r>
            <a:endParaRPr kumimoji="1" lang="en-US" altLang="ko-KR" sz="1100"/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ko-KR" sz="1100"/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ko-KR" sz="1100" b="1"/>
              <a:t>- Angle Control (P)</a:t>
            </a: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ko-KR" altLang="en-US" sz="1100"/>
              <a:t>자세 오차를 각속도 목표로 변환</a:t>
            </a:r>
            <a:endParaRPr kumimoji="1" lang="en-US" altLang="ko-KR" sz="1100"/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ko-KR" sz="1100"/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ko-KR" sz="1100" b="1"/>
              <a:t>- Angular Rate Control (PID)</a:t>
            </a: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ko-KR" altLang="en-US" sz="1100"/>
              <a:t>자이로</a:t>
            </a:r>
            <a:r>
              <a:rPr kumimoji="1" lang="en-US" altLang="ko-KR" sz="1100"/>
              <a:t> </a:t>
            </a:r>
            <a:r>
              <a:rPr kumimoji="1" lang="ko-KR" altLang="en-US" sz="1100"/>
              <a:t>기반의 안정화</a:t>
            </a:r>
            <a:endParaRPr kumimoji="1" lang="en-US" altLang="ko-KR" sz="1100"/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ko-KR" altLang="en-US" sz="1100"/>
              <a:t>목표 각속도와 실제 각속도를 입력으로 받아서 토크 명령 출력</a:t>
            </a:r>
            <a:endParaRPr kumimoji="1" lang="en-US" altLang="ko-KR" sz="1100"/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ko-KR" sz="1100"/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ko-KR" sz="1100" b="1"/>
              <a:t>- Mixer</a:t>
            </a: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ko-KR" altLang="en-US" sz="1100"/>
              <a:t>토크</a:t>
            </a:r>
            <a:r>
              <a:rPr kumimoji="1" lang="en-US" altLang="ko-KR" sz="1100"/>
              <a:t>/</a:t>
            </a:r>
            <a:r>
              <a:rPr kumimoji="1" lang="ko-KR" altLang="en-US" sz="1100"/>
              <a:t>추력을 모터에 배분</a:t>
            </a:r>
            <a:endParaRPr kumimoji="1" lang="en-US" altLang="ko-KR" sz="1100"/>
          </a:p>
        </p:txBody>
      </p:sp>
    </p:spTree>
    <p:extLst>
      <p:ext uri="{BB962C8B-B14F-4D97-AF65-F5344CB8AC3E}">
        <p14:creationId xmlns:p14="http://schemas.microsoft.com/office/powerpoint/2010/main" val="3227689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47FFA-C0EE-FF66-82BF-9426BE351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6D7F2650-A34B-4D61-3722-59956F2135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9065" b="40142"/>
          <a:stretch>
            <a:fillRect/>
          </a:stretch>
        </p:blipFill>
        <p:spPr>
          <a:xfrm>
            <a:off x="191074" y="2480226"/>
            <a:ext cx="6484988" cy="2246243"/>
          </a:xfrm>
          <a:prstGeom prst="rect">
            <a:avLst/>
          </a:prstGeom>
        </p:spPr>
      </p:pic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9006098-03E9-52D8-EC4A-8C1A4C59B9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71033"/>
              </p:ext>
            </p:extLst>
          </p:nvPr>
        </p:nvGraphicFramePr>
        <p:xfrm>
          <a:off x="6414448" y="719665"/>
          <a:ext cx="5586478" cy="54005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93239">
                  <a:extLst>
                    <a:ext uri="{9D8B030D-6E8A-4147-A177-3AD203B41FA5}">
                      <a16:colId xmlns:a16="http://schemas.microsoft.com/office/drawing/2014/main" val="335159384"/>
                    </a:ext>
                  </a:extLst>
                </a:gridCol>
                <a:gridCol w="2793239">
                  <a:extLst>
                    <a:ext uri="{9D8B030D-6E8A-4147-A177-3AD203B41FA5}">
                      <a16:colId xmlns:a16="http://schemas.microsoft.com/office/drawing/2014/main" val="304328227"/>
                    </a:ext>
                  </a:extLst>
                </a:gridCol>
              </a:tblGrid>
              <a:tr h="5080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Position/Angle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Velocity/Angular Rate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778954"/>
                  </a:ext>
                </a:extLst>
              </a:tr>
              <a:tr h="869088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dirty="0"/>
                        <a:t>얼마만큼 멀리 떨어졌는지</a:t>
                      </a:r>
                      <a:r>
                        <a:rPr kumimoji="1" lang="en-US" altLang="ko-KR" sz="1400" dirty="0"/>
                        <a:t>, </a:t>
                      </a:r>
                      <a:r>
                        <a:rPr kumimoji="1" lang="ko-KR" altLang="en-US" sz="1400" dirty="0"/>
                        <a:t>얼마나 빠르게 가야 하는지 결정</a:t>
                      </a:r>
                      <a:endParaRPr kumimoji="1" lang="en-US" altLang="ko-KR" sz="1400" dirty="0"/>
                    </a:p>
                    <a:p>
                      <a:pPr algn="just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dirty="0"/>
                        <a:t>지금의 속도가 너무 </a:t>
                      </a:r>
                      <a:r>
                        <a:rPr kumimoji="1" lang="ko-KR" altLang="en-US" sz="1400" dirty="0" err="1"/>
                        <a:t>느린지</a:t>
                      </a:r>
                      <a:r>
                        <a:rPr kumimoji="1" lang="ko-KR" altLang="en-US" sz="1400" dirty="0"/>
                        <a:t> </a:t>
                      </a:r>
                      <a:r>
                        <a:rPr kumimoji="1" lang="ko-KR" altLang="en-US" sz="1400" dirty="0" err="1"/>
                        <a:t>빠른지</a:t>
                      </a:r>
                      <a:r>
                        <a:rPr kumimoji="1" lang="en-US" altLang="ko-KR" sz="1400" dirty="0"/>
                        <a:t>, </a:t>
                      </a:r>
                      <a:r>
                        <a:rPr kumimoji="1" lang="ko-KR" altLang="en-US" sz="1400" dirty="0"/>
                        <a:t>얼마나 가</a:t>
                      </a:r>
                      <a:r>
                        <a:rPr kumimoji="1" lang="en-US" altLang="ko-KR" sz="1400" dirty="0"/>
                        <a:t>/</a:t>
                      </a:r>
                      <a:r>
                        <a:rPr kumimoji="1" lang="ko-KR" altLang="en-US" sz="1400" dirty="0"/>
                        <a:t>감속 </a:t>
                      </a:r>
                      <a:r>
                        <a:rPr kumimoji="1" lang="ko-KR" altLang="en-US" sz="1400" dirty="0" err="1"/>
                        <a:t>해야하는지</a:t>
                      </a:r>
                      <a:r>
                        <a:rPr kumimoji="1" lang="ko-KR" altLang="en-US" sz="1400" dirty="0"/>
                        <a:t> 결정</a:t>
                      </a:r>
                      <a:endParaRPr kumimoji="1" lang="en-US" altLang="ko-KR" sz="1400" dirty="0"/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400" dirty="0"/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dirty="0"/>
                        <a:t>기체가 속도 오차를 얼마나 강하게 가</a:t>
                      </a:r>
                      <a:r>
                        <a:rPr kumimoji="1" lang="en-US" altLang="ko-KR" sz="1400" dirty="0"/>
                        <a:t>/</a:t>
                      </a:r>
                      <a:r>
                        <a:rPr kumimoji="1" lang="ko-KR" altLang="en-US" sz="1400" dirty="0"/>
                        <a:t>감속할지를 보정</a:t>
                      </a:r>
                      <a:endParaRPr kumimoji="1" lang="en-US" altLang="ko-KR" sz="1400" dirty="0"/>
                    </a:p>
                    <a:p>
                      <a:pPr algn="just"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8065933"/>
                  </a:ext>
                </a:extLst>
              </a:tr>
              <a:tr h="869088"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400" dirty="0"/>
                        <a:t>몇 </a:t>
                      </a:r>
                      <a:r>
                        <a:rPr lang="en-US" altLang="ko-KR" sz="1400" dirty="0"/>
                        <a:t>m </a:t>
                      </a:r>
                      <a:r>
                        <a:rPr lang="ko-KR" altLang="en-US" sz="1400" dirty="0"/>
                        <a:t>떨어졌으니 몇 </a:t>
                      </a:r>
                      <a:r>
                        <a:rPr lang="en-US" altLang="ko-KR" sz="1400" dirty="0"/>
                        <a:t>m/s</a:t>
                      </a:r>
                      <a:r>
                        <a:rPr lang="ko-KR" altLang="en-US" sz="1400" dirty="0"/>
                        <a:t>로 가자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400" dirty="0"/>
                        <a:t>목표 속도에 맞추려면 얼마만큼 가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감속 </a:t>
                      </a:r>
                      <a:r>
                        <a:rPr lang="ko-KR" altLang="en-US" sz="1400" dirty="0" err="1"/>
                        <a:t>해야하니</a:t>
                      </a:r>
                      <a:r>
                        <a:rPr lang="en-US" altLang="ko-KR" sz="1400" dirty="0"/>
                        <a:t>?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099248"/>
                  </a:ext>
                </a:extLst>
              </a:tr>
              <a:tr h="1738176">
                <a:tc gridSpan="2">
                  <a:txBody>
                    <a:bodyPr/>
                    <a:lstStyle/>
                    <a:p>
                      <a:pPr algn="just" latinLnBrk="1"/>
                      <a:r>
                        <a:rPr lang="ko-KR" altLang="en-US" sz="1400" dirty="0"/>
                        <a:t>앞의 </a:t>
                      </a:r>
                      <a:r>
                        <a:rPr lang="en-US" altLang="ko-KR" sz="1400" dirty="0"/>
                        <a:t>position/angle</a:t>
                      </a:r>
                      <a:r>
                        <a:rPr lang="ko-KR" altLang="en-US" sz="1400" dirty="0"/>
                        <a:t>을 높이게 되면 속도 목표 값이 커진다</a:t>
                      </a:r>
                      <a:r>
                        <a:rPr lang="en-US" altLang="ko-KR" sz="1400" dirty="0"/>
                        <a:t>.</a:t>
                      </a:r>
                    </a:p>
                    <a:p>
                      <a:pPr algn="just" latinLnBrk="1"/>
                      <a:endParaRPr lang="en-US" altLang="ko-KR" sz="1400" dirty="0"/>
                    </a:p>
                    <a:p>
                      <a:pPr algn="just" latinLnBrk="1"/>
                      <a:r>
                        <a:rPr lang="en-US" altLang="ko-KR" sz="1400" dirty="0" err="1"/>
                        <a:t>pid</a:t>
                      </a:r>
                      <a:r>
                        <a:rPr lang="ko-KR" altLang="en-US" sz="1400" dirty="0"/>
                        <a:t>제어기에 들어갔을 때 더 큰 오차를 받게 되는 경우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더 강한 가속을 요구할 수 있다</a:t>
                      </a:r>
                      <a:r>
                        <a:rPr lang="en-US" altLang="ko-KR" sz="1400" dirty="0"/>
                        <a:t>.</a:t>
                      </a:r>
                    </a:p>
                    <a:p>
                      <a:pPr algn="just" latinLnBrk="1"/>
                      <a:endParaRPr lang="en-US" altLang="ko-KR" sz="1400" dirty="0"/>
                    </a:p>
                    <a:p>
                      <a:pPr algn="just" latinLnBrk="1"/>
                      <a:r>
                        <a:rPr lang="en-US" altLang="ko-KR" sz="1400" dirty="0" err="1"/>
                        <a:t>velocity,angular</a:t>
                      </a:r>
                      <a:r>
                        <a:rPr lang="en-US" altLang="ko-KR" sz="1400" dirty="0"/>
                        <a:t> rate</a:t>
                      </a:r>
                      <a:r>
                        <a:rPr lang="ko-KR" altLang="en-US" sz="1400" dirty="0"/>
                        <a:t>의 파라미터가 너무 작으면 강한 가속을 받아도 천천히 반응하게 된다</a:t>
                      </a:r>
                      <a:r>
                        <a:rPr lang="en-US" altLang="ko-KR" sz="1400" dirty="0"/>
                        <a:t>. </a:t>
                      </a:r>
                      <a:r>
                        <a:rPr lang="ko-KR" altLang="en-US" sz="1400" dirty="0"/>
                        <a:t>반대로 너무 크면 과도한 과속으로 기체가 앞뒤로 흔들린다</a:t>
                      </a:r>
                      <a:r>
                        <a:rPr lang="en-US" altLang="ko-KR" sz="1400" dirty="0"/>
                        <a:t>.</a:t>
                      </a:r>
                    </a:p>
                    <a:p>
                      <a:pPr algn="just" latinLnBrk="1"/>
                      <a:endParaRPr lang="en-US" altLang="ko-KR" sz="1400" dirty="0"/>
                    </a:p>
                    <a:p>
                      <a:pPr algn="just" latinLnBrk="1"/>
                      <a:r>
                        <a:rPr lang="en-US" altLang="ko-KR" sz="1400" dirty="0"/>
                        <a:t>=&gt; </a:t>
                      </a:r>
                      <a:r>
                        <a:rPr lang="ko-KR" altLang="en-US" sz="1400" dirty="0"/>
                        <a:t>먼저 </a:t>
                      </a:r>
                      <a:r>
                        <a:rPr lang="en-US" altLang="ko-KR" sz="1400" dirty="0"/>
                        <a:t>Velocity/Angular Rate</a:t>
                      </a:r>
                      <a:r>
                        <a:rPr lang="ko-KR" altLang="en-US" sz="1400" dirty="0" err="1"/>
                        <a:t>를</a:t>
                      </a:r>
                      <a:r>
                        <a:rPr lang="ko-KR" altLang="en-US" sz="1400" dirty="0"/>
                        <a:t> 튜닝하고 </a:t>
                      </a:r>
                      <a:r>
                        <a:rPr lang="en-US" altLang="ko-KR" sz="1400" dirty="0"/>
                        <a:t>Position/Angle</a:t>
                      </a:r>
                      <a:r>
                        <a:rPr lang="ko-KR" altLang="en-US" sz="1400" dirty="0" err="1"/>
                        <a:t>를</a:t>
                      </a:r>
                      <a:r>
                        <a:rPr lang="ko-KR" altLang="en-US" sz="1400" dirty="0"/>
                        <a:t> 튜닝해야 한다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1895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8100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C85AD-1711-D340-4E46-2B9CE1B96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A2F4207B-0FE5-301B-50E8-E99821A64C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9065" b="40142"/>
          <a:stretch>
            <a:fillRect/>
          </a:stretch>
        </p:blipFill>
        <p:spPr>
          <a:xfrm>
            <a:off x="163779" y="214698"/>
            <a:ext cx="4107971" cy="1422902"/>
          </a:xfrm>
          <a:prstGeom prst="rect">
            <a:avLst/>
          </a:prstGeom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7D78144-45FE-1C8F-FA0C-942C9A594B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4248565"/>
              </p:ext>
            </p:extLst>
          </p:nvPr>
        </p:nvGraphicFramePr>
        <p:xfrm>
          <a:off x="2217764" y="1955800"/>
          <a:ext cx="7718654" cy="2392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59327">
                  <a:extLst>
                    <a:ext uri="{9D8B030D-6E8A-4147-A177-3AD203B41FA5}">
                      <a16:colId xmlns:a16="http://schemas.microsoft.com/office/drawing/2014/main" val="324155664"/>
                    </a:ext>
                  </a:extLst>
                </a:gridCol>
                <a:gridCol w="3859327">
                  <a:extLst>
                    <a:ext uri="{9D8B030D-6E8A-4147-A177-3AD203B41FA5}">
                      <a16:colId xmlns:a16="http://schemas.microsoft.com/office/drawing/2014/main" val="1063622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예시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tuning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2433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목표점 근처에서 꿀렁거림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Position gain </a:t>
                      </a:r>
                      <a:r>
                        <a:rPr lang="ko-KR" altLang="en-US" dirty="0"/>
                        <a:t>조절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1211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직선 이동이 </a:t>
                      </a:r>
                      <a:r>
                        <a:rPr lang="ko-KR" altLang="en-US" dirty="0" err="1"/>
                        <a:t>느릿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질질 끌림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우선 </a:t>
                      </a:r>
                      <a:r>
                        <a:rPr lang="en-US" altLang="ko-KR" dirty="0"/>
                        <a:t>velocity</a:t>
                      </a:r>
                      <a:r>
                        <a:rPr lang="ko-KR" altLang="en-US" dirty="0" err="1"/>
                        <a:t>를</a:t>
                      </a:r>
                      <a:r>
                        <a:rPr lang="ko-KR" altLang="en-US" dirty="0"/>
                        <a:t> 조절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그래도 느리면 </a:t>
                      </a:r>
                      <a:r>
                        <a:rPr lang="en-US" altLang="ko-KR" dirty="0"/>
                        <a:t>position </a:t>
                      </a:r>
                      <a:r>
                        <a:rPr lang="ko-KR" altLang="en-US" dirty="0"/>
                        <a:t>조절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277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가감속</a:t>
                      </a:r>
                      <a:r>
                        <a:rPr lang="ko-KR" altLang="en-US" dirty="0"/>
                        <a:t> 시 앞뒤로 요동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Velocity</a:t>
                      </a:r>
                      <a:r>
                        <a:rPr lang="ko-KR" altLang="en-US" dirty="0"/>
                        <a:t>의 </a:t>
                      </a:r>
                      <a:r>
                        <a:rPr lang="en-US" altLang="ko-KR" dirty="0"/>
                        <a:t>p</a:t>
                      </a:r>
                      <a:r>
                        <a:rPr lang="ko-KR" altLang="en-US" dirty="0"/>
                        <a:t>가 과하거나 </a:t>
                      </a:r>
                      <a:r>
                        <a:rPr lang="en-US" altLang="ko-KR" dirty="0"/>
                        <a:t>d</a:t>
                      </a:r>
                      <a:r>
                        <a:rPr lang="ko-KR" altLang="en-US" dirty="0"/>
                        <a:t>가 부족한 상태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378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바람에 계속 밀림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Velocity</a:t>
                      </a:r>
                      <a:r>
                        <a:rPr lang="ko-KR" altLang="en-US" dirty="0"/>
                        <a:t>의 </a:t>
                      </a:r>
                      <a:r>
                        <a:rPr lang="en-US" altLang="ko-KR" dirty="0"/>
                        <a:t>I</a:t>
                      </a:r>
                      <a:r>
                        <a:rPr lang="ko-KR" altLang="en-US" dirty="0"/>
                        <a:t>가 부족한 상태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5137623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C263F951-7149-8424-BDAC-567642D3A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4018" y="4666680"/>
            <a:ext cx="7772400" cy="1771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027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C2D10-FAF2-91B6-9DEA-13FCDD317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내용 개체 틀 3">
            <a:extLst>
              <a:ext uri="{FF2B5EF4-FFF2-40B4-BE49-F238E27FC236}">
                <a16:creationId xmlns:a16="http://schemas.microsoft.com/office/drawing/2014/main" id="{9EB2E8A5-5C62-4656-0078-0429920A7D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0142"/>
          <a:stretch>
            <a:fillRect/>
          </a:stretch>
        </p:blipFill>
        <p:spPr>
          <a:xfrm>
            <a:off x="136480" y="136480"/>
            <a:ext cx="4216011" cy="1720961"/>
          </a:xfrm>
          <a:prstGeom prst="rect">
            <a:avLst/>
          </a:prstGeom>
        </p:spPr>
      </p:pic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5ADBFFB2-9A76-22DA-7E2F-6F594BE91E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596145"/>
              </p:ext>
            </p:extLst>
          </p:nvPr>
        </p:nvGraphicFramePr>
        <p:xfrm>
          <a:off x="373607" y="2595429"/>
          <a:ext cx="11444785" cy="4192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3245">
                  <a:extLst>
                    <a:ext uri="{9D8B030D-6E8A-4147-A177-3AD203B41FA5}">
                      <a16:colId xmlns:a16="http://schemas.microsoft.com/office/drawing/2014/main" val="3731408904"/>
                    </a:ext>
                  </a:extLst>
                </a:gridCol>
                <a:gridCol w="1725119">
                  <a:extLst>
                    <a:ext uri="{9D8B030D-6E8A-4147-A177-3AD203B41FA5}">
                      <a16:colId xmlns:a16="http://schemas.microsoft.com/office/drawing/2014/main" val="1061248062"/>
                    </a:ext>
                  </a:extLst>
                </a:gridCol>
                <a:gridCol w="723934">
                  <a:extLst>
                    <a:ext uri="{9D8B030D-6E8A-4147-A177-3AD203B41FA5}">
                      <a16:colId xmlns:a16="http://schemas.microsoft.com/office/drawing/2014/main" val="1149567345"/>
                    </a:ext>
                  </a:extLst>
                </a:gridCol>
                <a:gridCol w="4081757">
                  <a:extLst>
                    <a:ext uri="{9D8B030D-6E8A-4147-A177-3AD203B41FA5}">
                      <a16:colId xmlns:a16="http://schemas.microsoft.com/office/drawing/2014/main" val="285685895"/>
                    </a:ext>
                  </a:extLst>
                </a:gridCol>
                <a:gridCol w="3940730">
                  <a:extLst>
                    <a:ext uri="{9D8B030D-6E8A-4147-A177-3AD203B41FA5}">
                      <a16:colId xmlns:a16="http://schemas.microsoft.com/office/drawing/2014/main" val="628529123"/>
                    </a:ext>
                  </a:extLst>
                </a:gridCol>
              </a:tblGrid>
              <a:tr h="488421"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400" dirty="0"/>
                        <a:t>용어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400" dirty="0"/>
                        <a:t>관련 파라미터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400" dirty="0"/>
                        <a:t>축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의미</a:t>
                      </a:r>
                    </a:p>
                    <a:p>
                      <a:pPr algn="just" latinLnBrk="1"/>
                      <a:endParaRPr lang="ko-KR" altLang="en-US" sz="1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400" dirty="0"/>
                        <a:t>Tuning </a:t>
                      </a:r>
                      <a:r>
                        <a:rPr lang="ko-KR" altLang="en-US" sz="1400" dirty="0"/>
                        <a:t>수정사항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991548"/>
                  </a:ext>
                </a:extLst>
              </a:tr>
              <a:tr h="505720">
                <a:tc rowSpan="2">
                  <a:txBody>
                    <a:bodyPr/>
                    <a:lstStyle/>
                    <a:p>
                      <a:pPr algn="just" latinLnBrk="1"/>
                      <a:endParaRPr lang="en-US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" altLang="ko-KR" sz="1200" dirty="0"/>
                        <a:t>MC_ROLLRATE_P/I/D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0" i="0" dirty="0"/>
                        <a:t>Roll</a:t>
                      </a:r>
                      <a:endParaRPr lang="ko-KR" altLang="en-US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0" i="0" dirty="0"/>
                        <a:t>Roll</a:t>
                      </a:r>
                      <a:r>
                        <a:rPr lang="ko-KR" altLang="en-US" sz="1200" b="0" i="0" dirty="0"/>
                        <a:t>축의 각속도 </a:t>
                      </a:r>
                      <a:r>
                        <a:rPr lang="en-US" altLang="ko-KR" sz="1200" b="0" i="0" dirty="0"/>
                        <a:t>PID gain</a:t>
                      </a:r>
                      <a:endParaRPr lang="ko-KR" altLang="en-US" sz="1200" b="0" i="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just" latinLnBrk="1"/>
                      <a:r>
                        <a:rPr lang="ko-KR" altLang="en-US" sz="1200" b="0" i="0" dirty="0"/>
                        <a:t>회전 반응성</a:t>
                      </a:r>
                      <a:r>
                        <a:rPr lang="en-US" altLang="ko-KR" sz="1200" b="0" i="0" dirty="0"/>
                        <a:t>/ </a:t>
                      </a:r>
                      <a:r>
                        <a:rPr lang="ko-KR" altLang="en-US" sz="1200" b="0" i="0" dirty="0"/>
                        <a:t>감쇠 조절</a:t>
                      </a:r>
                      <a:endParaRPr lang="en-US" altLang="ko-KR" sz="1200" b="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2450731"/>
                  </a:ext>
                </a:extLst>
              </a:tr>
              <a:tr h="50572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" altLang="ko-KR" sz="1200" dirty="0"/>
                        <a:t>MC_PITCHRATE_P/I/D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0" i="0" dirty="0"/>
                        <a:t>Pitch</a:t>
                      </a:r>
                      <a:endParaRPr lang="ko-KR" altLang="en-US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" altLang="ko-KR" sz="1200" dirty="0"/>
                        <a:t>Pitch</a:t>
                      </a:r>
                      <a:r>
                        <a:rPr lang="ko-KR" altLang="en-US" sz="1200" dirty="0"/>
                        <a:t>축 </a:t>
                      </a:r>
                      <a:r>
                        <a:rPr lang="en" altLang="ko-KR" sz="1200" dirty="0"/>
                        <a:t>PID </a:t>
                      </a:r>
                      <a:r>
                        <a:rPr lang="ko-KR" altLang="en-US" sz="1200" dirty="0"/>
                        <a:t>게인</a:t>
                      </a:r>
                      <a:endParaRPr lang="ko-KR" altLang="en-US" sz="1200" b="0" i="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9609546"/>
                  </a:ext>
                </a:extLst>
              </a:tr>
              <a:tr h="505720">
                <a:tc>
                  <a:txBody>
                    <a:bodyPr/>
                    <a:lstStyle/>
                    <a:p>
                      <a:pPr algn="just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" altLang="ko-KR" sz="1200" dirty="0"/>
                        <a:t>MC_YAWRATE_P/I/D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0" i="0" dirty="0"/>
                        <a:t>Yaw</a:t>
                      </a:r>
                      <a:endParaRPr lang="ko-KR" altLang="en-US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" altLang="ko-KR" sz="1200" dirty="0"/>
                        <a:t>Yaw</a:t>
                      </a:r>
                      <a:r>
                        <a:rPr lang="ko-KR" altLang="en-US" sz="1200" dirty="0"/>
                        <a:t>축 </a:t>
                      </a:r>
                      <a:r>
                        <a:rPr lang="en" altLang="ko-KR" sz="1200" dirty="0"/>
                        <a:t>PID </a:t>
                      </a:r>
                      <a:r>
                        <a:rPr lang="ko-KR" altLang="en-US" sz="1200" dirty="0"/>
                        <a:t>게인</a:t>
                      </a:r>
                      <a:endParaRPr lang="ko-KR" altLang="en-US" sz="1200" b="0" i="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just" latinLnBrk="1"/>
                      <a:endParaRPr lang="ko-KR" altLang="en-US" sz="1200" b="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1684102"/>
                  </a:ext>
                </a:extLst>
              </a:tr>
              <a:tr h="505720">
                <a:tc>
                  <a:txBody>
                    <a:bodyPr/>
                    <a:lstStyle/>
                    <a:p>
                      <a:pPr algn="just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" altLang="ko-KR" sz="1200" dirty="0"/>
                        <a:t>MC_RATE_INT_LIM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0" i="0" dirty="0"/>
                        <a:t>I</a:t>
                      </a:r>
                      <a:r>
                        <a:rPr lang="ko-KR" altLang="en-US" sz="1200" b="0" i="0" dirty="0"/>
                        <a:t>항 적분 </a:t>
                      </a:r>
                      <a:r>
                        <a:rPr lang="en-US" altLang="ko-KR" sz="1200" b="0" i="0" dirty="0"/>
                        <a:t>limit, wind up(</a:t>
                      </a:r>
                      <a:r>
                        <a:rPr lang="ko-KR" altLang="en-US" sz="1200" b="0" i="0" dirty="0"/>
                        <a:t>적분항이 폭주하는 현상</a:t>
                      </a:r>
                      <a:r>
                        <a:rPr lang="en-US" altLang="ko-KR" sz="1200" b="0" i="0" dirty="0"/>
                        <a:t>) </a:t>
                      </a:r>
                      <a:r>
                        <a:rPr lang="ko-KR" altLang="en-US" sz="1200" b="0" i="0" dirty="0"/>
                        <a:t>방지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1200" b="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255449"/>
                  </a:ext>
                </a:extLst>
              </a:tr>
              <a:tr h="505720">
                <a:tc>
                  <a:txBody>
                    <a:bodyPr/>
                    <a:lstStyle/>
                    <a:p>
                      <a:pPr algn="just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" altLang="ko-KR" sz="1200" dirty="0"/>
                        <a:t>MC_DTERM_CUTOFF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0" i="0" dirty="0"/>
                        <a:t>D</a:t>
                      </a:r>
                      <a:r>
                        <a:rPr lang="ko-KR" altLang="en-US" sz="1200" b="0" i="0" dirty="0"/>
                        <a:t>항 </a:t>
                      </a:r>
                      <a:r>
                        <a:rPr lang="en-US" altLang="ko-KR" sz="1200" b="0" i="0" dirty="0"/>
                        <a:t>LPF </a:t>
                      </a:r>
                      <a:r>
                        <a:rPr lang="ko-KR" altLang="en-US" sz="1200" b="0" i="0" dirty="0"/>
                        <a:t>컷오프</a:t>
                      </a:r>
                      <a:r>
                        <a:rPr lang="en-US" altLang="ko-KR" sz="1200" b="0" i="0" dirty="0"/>
                        <a:t>, </a:t>
                      </a:r>
                      <a:r>
                        <a:rPr lang="ko-KR" altLang="en-US" sz="1200" b="0" i="0" dirty="0"/>
                        <a:t>진동 억제용 노이즈 필터</a:t>
                      </a:r>
                      <a:endParaRPr lang="en-US" altLang="ko-KR" sz="1200" b="0" i="0" dirty="0"/>
                    </a:p>
                    <a:p>
                      <a:pPr algn="just" latinLnBrk="1"/>
                      <a:r>
                        <a:rPr lang="ko-KR" altLang="en-US" sz="1200" b="0" i="0" dirty="0" err="1"/>
                        <a:t>자이로</a:t>
                      </a:r>
                      <a:r>
                        <a:rPr lang="ko-KR" altLang="en-US" sz="1200" b="0" i="0" dirty="0"/>
                        <a:t> 노이즈를 줄이기 위해 </a:t>
                      </a:r>
                      <a:r>
                        <a:rPr lang="ko-KR" altLang="en-US" sz="1200" b="0" i="0" dirty="0" err="1"/>
                        <a:t>저역통과필터를</a:t>
                      </a:r>
                      <a:r>
                        <a:rPr lang="ko-KR" altLang="en-US" sz="1200" b="0" i="0" dirty="0"/>
                        <a:t> 삽입한다</a:t>
                      </a:r>
                      <a:r>
                        <a:rPr lang="en-US" altLang="ko-KR" sz="1200" b="0" i="0" dirty="0"/>
                        <a:t>.</a:t>
                      </a:r>
                      <a:endParaRPr lang="ko-KR" altLang="en-US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1200" b="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507055"/>
                  </a:ext>
                </a:extLst>
              </a:tr>
              <a:tr h="505720">
                <a:tc>
                  <a:txBody>
                    <a:bodyPr/>
                    <a:lstStyle/>
                    <a:p>
                      <a:pPr algn="just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" altLang="ko-KR" sz="1200" dirty="0"/>
                        <a:t>IMU_GYRO_CUTOFF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200" b="0" i="0" dirty="0" err="1"/>
                        <a:t>자이로</a:t>
                      </a:r>
                      <a:r>
                        <a:rPr lang="ko-KR" altLang="en-US" sz="1200" b="0" i="0" dirty="0"/>
                        <a:t> 필터</a:t>
                      </a:r>
                      <a:r>
                        <a:rPr lang="en-US" altLang="ko-KR" sz="1200" b="0" i="0" dirty="0"/>
                        <a:t>, </a:t>
                      </a:r>
                      <a:r>
                        <a:rPr lang="ko-KR" altLang="en-US" sz="1200" b="0" i="0" dirty="0"/>
                        <a:t>센서 레벨 필터링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1200" b="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774405"/>
                  </a:ext>
                </a:extLst>
              </a:tr>
              <a:tr h="603343">
                <a:tc>
                  <a:txBody>
                    <a:bodyPr/>
                    <a:lstStyle/>
                    <a:p>
                      <a:pPr algn="just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" altLang="ko-KR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MC_ROLLRATE_MAX</a:t>
                      </a:r>
                      <a:r>
                        <a:rPr lang="en" altLang="ko-KR" sz="1200" dirty="0"/>
                        <a:t> </a:t>
                      </a:r>
                      <a:r>
                        <a:rPr lang="en" altLang="ko-KR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MC_PITCHRATE_MAX</a:t>
                      </a:r>
                      <a:r>
                        <a:rPr lang="en" altLang="ko-KR" sz="1200" dirty="0"/>
                        <a:t> </a:t>
                      </a:r>
                      <a:r>
                        <a:rPr lang="en" altLang="ko-KR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MC_YAWRATE_MAX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200" b="0" i="0" dirty="0"/>
                        <a:t>각속도 제한</a:t>
                      </a:r>
                      <a:r>
                        <a:rPr lang="en-US" altLang="ko-KR" sz="1200" b="0" i="0" dirty="0"/>
                        <a:t>, </a:t>
                      </a:r>
                      <a:r>
                        <a:rPr lang="ko-KR" altLang="en-US" sz="1200" b="0" i="0" dirty="0"/>
                        <a:t>목표치 상한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1200" b="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558994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DD172D2-C8A1-3C7A-F885-66258D1CF955}"/>
              </a:ext>
            </a:extLst>
          </p:cNvPr>
          <p:cNvSpPr txBox="1"/>
          <p:nvPr/>
        </p:nvSpPr>
        <p:spPr>
          <a:xfrm>
            <a:off x="9081448" y="1644688"/>
            <a:ext cx="16546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P</a:t>
            </a:r>
            <a:r>
              <a:rPr kumimoji="1" lang="ko-KR" altLang="en-US" dirty="0"/>
              <a:t>제어</a:t>
            </a:r>
            <a:endParaRPr kumimoji="1" lang="en-US" altLang="ko-KR" dirty="0"/>
          </a:p>
          <a:p>
            <a:r>
              <a:rPr kumimoji="1" lang="en-US" altLang="ko-KR" dirty="0" err="1"/>
              <a:t>v_sp</a:t>
            </a:r>
            <a:r>
              <a:rPr kumimoji="1" lang="en-US" altLang="ko-KR" dirty="0"/>
              <a:t> = K_P*</a:t>
            </a:r>
            <a:r>
              <a:rPr lang="el-GR" altLang="ko-KR" dirty="0"/>
              <a:t>Δ</a:t>
            </a:r>
            <a:r>
              <a:rPr lang="en" altLang="ko-KR" dirty="0"/>
              <a:t>r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9A987CC-31DB-BB27-F148-30FDA8F32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9690" y="484450"/>
            <a:ext cx="4382069" cy="1909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053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77F8A-0FE6-4596-01BB-CBBCC751F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내용 개체 틀 3">
            <a:extLst>
              <a:ext uri="{FF2B5EF4-FFF2-40B4-BE49-F238E27FC236}">
                <a16:creationId xmlns:a16="http://schemas.microsoft.com/office/drawing/2014/main" id="{C3B9DDFE-040C-283C-FFD7-F1AAD013F6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0142"/>
          <a:stretch>
            <a:fillRect/>
          </a:stretch>
        </p:blipFill>
        <p:spPr>
          <a:xfrm>
            <a:off x="136480" y="136480"/>
            <a:ext cx="4216011" cy="1720961"/>
          </a:xfrm>
          <a:prstGeom prst="rect">
            <a:avLst/>
          </a:prstGeom>
        </p:spPr>
      </p:pic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9E02ED0A-ABA2-965A-CBC9-5849152F30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3648854"/>
              </p:ext>
            </p:extLst>
          </p:nvPr>
        </p:nvGraphicFramePr>
        <p:xfrm>
          <a:off x="373607" y="2860899"/>
          <a:ext cx="11444785" cy="355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3245">
                  <a:extLst>
                    <a:ext uri="{9D8B030D-6E8A-4147-A177-3AD203B41FA5}">
                      <a16:colId xmlns:a16="http://schemas.microsoft.com/office/drawing/2014/main" val="3731408904"/>
                    </a:ext>
                  </a:extLst>
                </a:gridCol>
                <a:gridCol w="1725119">
                  <a:extLst>
                    <a:ext uri="{9D8B030D-6E8A-4147-A177-3AD203B41FA5}">
                      <a16:colId xmlns:a16="http://schemas.microsoft.com/office/drawing/2014/main" val="1061248062"/>
                    </a:ext>
                  </a:extLst>
                </a:gridCol>
                <a:gridCol w="723934">
                  <a:extLst>
                    <a:ext uri="{9D8B030D-6E8A-4147-A177-3AD203B41FA5}">
                      <a16:colId xmlns:a16="http://schemas.microsoft.com/office/drawing/2014/main" val="1149567345"/>
                    </a:ext>
                  </a:extLst>
                </a:gridCol>
                <a:gridCol w="4081757">
                  <a:extLst>
                    <a:ext uri="{9D8B030D-6E8A-4147-A177-3AD203B41FA5}">
                      <a16:colId xmlns:a16="http://schemas.microsoft.com/office/drawing/2014/main" val="285685895"/>
                    </a:ext>
                  </a:extLst>
                </a:gridCol>
                <a:gridCol w="3940730">
                  <a:extLst>
                    <a:ext uri="{9D8B030D-6E8A-4147-A177-3AD203B41FA5}">
                      <a16:colId xmlns:a16="http://schemas.microsoft.com/office/drawing/2014/main" val="628529123"/>
                    </a:ext>
                  </a:extLst>
                </a:gridCol>
              </a:tblGrid>
              <a:tr h="488421"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400" dirty="0"/>
                        <a:t>용어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400" dirty="0"/>
                        <a:t>관련 파라미터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400" dirty="0"/>
                        <a:t>축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의미</a:t>
                      </a:r>
                    </a:p>
                    <a:p>
                      <a:pPr algn="just" latinLnBrk="1"/>
                      <a:endParaRPr lang="ko-KR" altLang="en-US" sz="1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400" dirty="0"/>
                        <a:t>Tuning </a:t>
                      </a:r>
                      <a:r>
                        <a:rPr lang="ko-KR" altLang="en-US" sz="1400" dirty="0"/>
                        <a:t>수정사항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991548"/>
                  </a:ext>
                </a:extLst>
              </a:tr>
              <a:tr h="505720">
                <a:tc rowSpan="3">
                  <a:txBody>
                    <a:bodyPr/>
                    <a:lstStyle/>
                    <a:p>
                      <a:pPr algn="just" latinLnBrk="1"/>
                      <a:endParaRPr lang="en-US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" altLang="ko-KR" sz="1200" dirty="0"/>
                        <a:t>MC_ROLL_P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0" i="0" dirty="0"/>
                        <a:t>Roll</a:t>
                      </a:r>
                      <a:endParaRPr lang="ko-KR" altLang="en-US" sz="1200" b="0" i="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just" latinLnBrk="1"/>
                      <a:r>
                        <a:rPr lang="ko-KR" altLang="en-US" sz="1200" b="0" i="0" dirty="0"/>
                        <a:t>자세 오차에 대한 비례 이득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just" latinLnBrk="1"/>
                      <a:r>
                        <a:rPr lang="ko-KR" altLang="en-US" sz="1200" b="0" i="0" dirty="0"/>
                        <a:t>기체가 목표 자세로 너무 천천히 돌아가면 </a:t>
                      </a:r>
                      <a:r>
                        <a:rPr lang="en-US" altLang="ko-KR" sz="1200" b="0" i="0" dirty="0"/>
                        <a:t>P</a:t>
                      </a:r>
                      <a:r>
                        <a:rPr lang="ko-KR" altLang="en-US" sz="1200" b="0" i="0" dirty="0"/>
                        <a:t>값이 너무 작은 것이기에 값을 올린다</a:t>
                      </a:r>
                      <a:r>
                        <a:rPr lang="en-US" altLang="ko-KR" sz="1200" b="0" i="0" dirty="0"/>
                        <a:t>.</a:t>
                      </a:r>
                    </a:p>
                    <a:p>
                      <a:pPr algn="just" latinLnBrk="1"/>
                      <a:r>
                        <a:rPr lang="ko-KR" altLang="en-US" sz="1200" b="0" i="0" dirty="0"/>
                        <a:t>반대로 과도하게 흔들리면 값을 내린다</a:t>
                      </a:r>
                      <a:r>
                        <a:rPr lang="en-US" altLang="ko-KR" sz="1200" b="0" i="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2450731"/>
                  </a:ext>
                </a:extLst>
              </a:tr>
              <a:tr h="50572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" altLang="ko-KR" sz="1200" dirty="0"/>
                        <a:t>MC_PITCH_P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0" i="0" dirty="0"/>
                        <a:t>Pitch</a:t>
                      </a:r>
                      <a:endParaRPr lang="ko-KR" altLang="en-US" sz="1200" b="0" i="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just" latinLnBrk="1"/>
                      <a:endParaRPr lang="ko-KR" altLang="en-US" sz="1200" b="0" i="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just" latinLnBrk="1"/>
                      <a:endParaRPr lang="en-US" altLang="ko-KR" sz="1200" b="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9609546"/>
                  </a:ext>
                </a:extLst>
              </a:tr>
              <a:tr h="505720">
                <a:tc vMerge="1">
                  <a:txBody>
                    <a:bodyPr/>
                    <a:lstStyle/>
                    <a:p>
                      <a:pPr algn="just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" altLang="ko-KR" sz="1200" dirty="0"/>
                        <a:t>MC_YAW_P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0" i="0" dirty="0"/>
                        <a:t>Yaw</a:t>
                      </a:r>
                      <a:endParaRPr lang="ko-KR" altLang="en-US" sz="1200" b="0" i="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just" latinLnBrk="1"/>
                      <a:endParaRPr lang="ko-KR" altLang="en-US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0" i="0" dirty="0"/>
                        <a:t>Yaw</a:t>
                      </a:r>
                      <a:r>
                        <a:rPr lang="ko-KR" altLang="en-US" sz="1200" b="0" i="0" dirty="0"/>
                        <a:t>회전 반응이 느리면 너무 작다는 것이다</a:t>
                      </a:r>
                      <a:r>
                        <a:rPr lang="en-US" altLang="ko-KR" sz="1200" b="0" i="0" dirty="0"/>
                        <a:t>.</a:t>
                      </a:r>
                    </a:p>
                    <a:p>
                      <a:pPr algn="just" latinLnBrk="1"/>
                      <a:r>
                        <a:rPr lang="ko-KR" altLang="en-US" sz="1200" b="0" i="0" dirty="0"/>
                        <a:t>반대로 </a:t>
                      </a:r>
                      <a:r>
                        <a:rPr lang="en-US" altLang="ko-KR" sz="1200" b="0" i="0" dirty="0"/>
                        <a:t>yaw</a:t>
                      </a:r>
                      <a:r>
                        <a:rPr lang="ko-KR" altLang="en-US" sz="1200" b="0" i="0" dirty="0" err="1"/>
                        <a:t>회전시</a:t>
                      </a:r>
                      <a:r>
                        <a:rPr lang="ko-KR" altLang="en-US" sz="1200" b="0" i="0" dirty="0"/>
                        <a:t> 윙윙 떨리면 너무 크다는 것이다</a:t>
                      </a:r>
                      <a:r>
                        <a:rPr lang="en-US" altLang="ko-KR" sz="1200" b="0" i="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1684102"/>
                  </a:ext>
                </a:extLst>
              </a:tr>
              <a:tr h="505720">
                <a:tc rowSpan="3">
                  <a:txBody>
                    <a:bodyPr/>
                    <a:lstStyle/>
                    <a:p>
                      <a:pPr algn="just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" altLang="ko-KR" sz="1200" dirty="0"/>
                        <a:t>MC_ROLLRATE_MAX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0" i="0" dirty="0"/>
                        <a:t>Roll</a:t>
                      </a:r>
                      <a:endParaRPr lang="ko-KR" altLang="en-US" sz="1200" b="0" i="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just" latinLnBrk="1"/>
                      <a:r>
                        <a:rPr lang="ko-KR" altLang="en-US" sz="1200" b="0" i="0" dirty="0"/>
                        <a:t>최대 각속도 제한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1200" b="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255449"/>
                  </a:ext>
                </a:extLst>
              </a:tr>
              <a:tr h="505720">
                <a:tc vMerge="1">
                  <a:txBody>
                    <a:bodyPr/>
                    <a:lstStyle/>
                    <a:p>
                      <a:pPr algn="just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" altLang="ko-KR" sz="1200" dirty="0"/>
                        <a:t>MC_</a:t>
                      </a:r>
                      <a:r>
                        <a:rPr lang="en-US" altLang="ko-KR" sz="1200" dirty="0"/>
                        <a:t>PITCH</a:t>
                      </a:r>
                      <a:r>
                        <a:rPr lang="en" altLang="ko-KR" sz="1200" dirty="0"/>
                        <a:t>RATE_MAX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0" i="0" dirty="0"/>
                        <a:t>Pitch</a:t>
                      </a:r>
                      <a:endParaRPr lang="ko-KR" altLang="en-US" sz="1200" b="0" i="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just" latinLnBrk="1"/>
                      <a:endParaRPr lang="ko-KR" altLang="en-US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1200" b="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507055"/>
                  </a:ext>
                </a:extLst>
              </a:tr>
              <a:tr h="505720">
                <a:tc vMerge="1">
                  <a:txBody>
                    <a:bodyPr/>
                    <a:lstStyle/>
                    <a:p>
                      <a:pPr algn="just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" altLang="ko-KR" sz="1200" dirty="0"/>
                        <a:t>MC_YAWRATE_MAX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0" i="0" dirty="0"/>
                        <a:t>Yaw</a:t>
                      </a:r>
                      <a:endParaRPr lang="ko-KR" altLang="en-US" sz="1200" b="0" i="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just" latinLnBrk="1"/>
                      <a:endParaRPr lang="ko-KR" altLang="en-US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1200" b="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774405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E39C7B34-72FA-3F22-AFE0-81BEDFB547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2635"/>
          <a:stretch>
            <a:fillRect/>
          </a:stretch>
        </p:blipFill>
        <p:spPr>
          <a:xfrm>
            <a:off x="6876780" y="439383"/>
            <a:ext cx="4941612" cy="16051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079C6B-0604-559F-D0D8-3492389E18B0}"/>
              </a:ext>
            </a:extLst>
          </p:cNvPr>
          <p:cNvSpPr txBox="1"/>
          <p:nvPr/>
        </p:nvSpPr>
        <p:spPr>
          <a:xfrm>
            <a:off x="1786165" y="2226097"/>
            <a:ext cx="8619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목표 자세와 실제 자세를 비교해서 어느 방향으로 얼마만큼 돌아야 하는가를 계산</a:t>
            </a:r>
          </a:p>
        </p:txBody>
      </p:sp>
    </p:spTree>
    <p:extLst>
      <p:ext uri="{BB962C8B-B14F-4D97-AF65-F5344CB8AC3E}">
        <p14:creationId xmlns:p14="http://schemas.microsoft.com/office/powerpoint/2010/main" val="1778346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5C311-007E-969C-C7C8-4EE52C24D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내용 개체 틀 3">
            <a:extLst>
              <a:ext uri="{FF2B5EF4-FFF2-40B4-BE49-F238E27FC236}">
                <a16:creationId xmlns:a16="http://schemas.microsoft.com/office/drawing/2014/main" id="{92AE669A-CE57-B1DB-044E-19DD9BDBE7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0142"/>
          <a:stretch>
            <a:fillRect/>
          </a:stretch>
        </p:blipFill>
        <p:spPr>
          <a:xfrm>
            <a:off x="136480" y="136480"/>
            <a:ext cx="4216011" cy="1720961"/>
          </a:xfrm>
          <a:prstGeom prst="rect">
            <a:avLst/>
          </a:prstGeom>
        </p:spPr>
      </p:pic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94B478E8-7EB3-FD05-9C24-AA442ECF59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3558653"/>
              </p:ext>
            </p:extLst>
          </p:nvPr>
        </p:nvGraphicFramePr>
        <p:xfrm>
          <a:off x="526007" y="4132399"/>
          <a:ext cx="11444785" cy="243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3245">
                  <a:extLst>
                    <a:ext uri="{9D8B030D-6E8A-4147-A177-3AD203B41FA5}">
                      <a16:colId xmlns:a16="http://schemas.microsoft.com/office/drawing/2014/main" val="3731408904"/>
                    </a:ext>
                  </a:extLst>
                </a:gridCol>
                <a:gridCol w="1725119">
                  <a:extLst>
                    <a:ext uri="{9D8B030D-6E8A-4147-A177-3AD203B41FA5}">
                      <a16:colId xmlns:a16="http://schemas.microsoft.com/office/drawing/2014/main" val="1061248062"/>
                    </a:ext>
                  </a:extLst>
                </a:gridCol>
                <a:gridCol w="723934">
                  <a:extLst>
                    <a:ext uri="{9D8B030D-6E8A-4147-A177-3AD203B41FA5}">
                      <a16:colId xmlns:a16="http://schemas.microsoft.com/office/drawing/2014/main" val="1149567345"/>
                    </a:ext>
                  </a:extLst>
                </a:gridCol>
                <a:gridCol w="4938093">
                  <a:extLst>
                    <a:ext uri="{9D8B030D-6E8A-4147-A177-3AD203B41FA5}">
                      <a16:colId xmlns:a16="http://schemas.microsoft.com/office/drawing/2014/main" val="285685895"/>
                    </a:ext>
                  </a:extLst>
                </a:gridCol>
                <a:gridCol w="3084394">
                  <a:extLst>
                    <a:ext uri="{9D8B030D-6E8A-4147-A177-3AD203B41FA5}">
                      <a16:colId xmlns:a16="http://schemas.microsoft.com/office/drawing/2014/main" val="628529123"/>
                    </a:ext>
                  </a:extLst>
                </a:gridCol>
              </a:tblGrid>
              <a:tr h="517094"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400" dirty="0"/>
                        <a:t>용어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400" dirty="0"/>
                        <a:t>관련 파라미터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400" dirty="0"/>
                        <a:t>축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의미</a:t>
                      </a:r>
                    </a:p>
                    <a:p>
                      <a:pPr algn="just" latinLnBrk="1"/>
                      <a:endParaRPr lang="ko-KR" altLang="en-US" sz="1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400" dirty="0"/>
                        <a:t>Tuning </a:t>
                      </a:r>
                      <a:r>
                        <a:rPr lang="ko-KR" altLang="en-US" sz="1400" dirty="0"/>
                        <a:t>수정사항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991548"/>
                  </a:ext>
                </a:extLst>
              </a:tr>
              <a:tr h="536513">
                <a:tc rowSpan="3">
                  <a:txBody>
                    <a:bodyPr/>
                    <a:lstStyle/>
                    <a:p>
                      <a:pPr algn="just" latinLnBrk="1"/>
                      <a:endParaRPr lang="en-US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dirty="0"/>
                        <a:t>MPC_XY_VEL_P_ACC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MPC_Z_VEL_P_ACC</a:t>
                      </a:r>
                      <a:endParaRPr lang="ko-KR" altLang="en-US" sz="1200" dirty="0"/>
                    </a:p>
                    <a:p>
                      <a:pPr algn="just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0" i="0" dirty="0"/>
                        <a:t>P</a:t>
                      </a:r>
                      <a:endParaRPr lang="ko-KR" altLang="en-US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200" b="0" i="0" dirty="0"/>
                        <a:t>속도 오차 비례 이득</a:t>
                      </a:r>
                      <a:r>
                        <a:rPr lang="en-US" altLang="ko-KR" sz="1200" b="0" i="0" dirty="0"/>
                        <a:t>,</a:t>
                      </a:r>
                      <a:r>
                        <a:rPr lang="ko-KR" altLang="en-US" sz="1200" b="0" i="0" dirty="0"/>
                        <a:t> 즉각적인 오차 보정</a:t>
                      </a:r>
                      <a:endParaRPr lang="en-US" altLang="ko-KR" sz="1200" b="0" i="0" dirty="0"/>
                    </a:p>
                    <a:p>
                      <a:pPr algn="just" latinLnBrk="1"/>
                      <a:r>
                        <a:rPr lang="ko-KR" altLang="en-US" sz="1200" b="0" i="0" dirty="0"/>
                        <a:t>너무 크면 진동</a:t>
                      </a:r>
                      <a:r>
                        <a:rPr lang="en-US" altLang="ko-KR" sz="1200" b="0" i="0" dirty="0"/>
                        <a:t>,</a:t>
                      </a:r>
                      <a:r>
                        <a:rPr lang="ko-KR" altLang="en-US" sz="1200" b="0" i="0" dirty="0"/>
                        <a:t> 너무 작으면 느림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0" i="0" dirty="0"/>
                        <a:t>P</a:t>
                      </a:r>
                      <a:r>
                        <a:rPr lang="ko-KR" altLang="en-US" sz="1200" b="0" i="0" dirty="0"/>
                        <a:t>값이 너무 크면 진동</a:t>
                      </a:r>
                      <a:r>
                        <a:rPr lang="en-US" altLang="ko-KR" sz="1200" b="0" i="0" dirty="0"/>
                        <a:t>, overshoot</a:t>
                      </a:r>
                    </a:p>
                    <a:p>
                      <a:pPr algn="just" latinLnBrk="1"/>
                      <a:r>
                        <a:rPr lang="ko-KR" altLang="en-US" sz="1200" b="0" i="0" dirty="0"/>
                        <a:t>너무 작으면 반응 둔함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2450731"/>
                  </a:ext>
                </a:extLst>
              </a:tr>
              <a:tr h="53651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" altLang="ko-KR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MPC_XY_VEL_I_ACC</a:t>
                      </a:r>
                      <a:r>
                        <a:rPr lang="en" altLang="ko-KR" sz="1200" dirty="0"/>
                        <a:t> </a:t>
                      </a:r>
                      <a:r>
                        <a:rPr lang="en" altLang="ko-KR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MPC_Z_VEL_I_ACC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0" i="0" dirty="0"/>
                        <a:t>I</a:t>
                      </a:r>
                      <a:endParaRPr lang="ko-KR" altLang="en-US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200" b="0" i="0" dirty="0"/>
                        <a:t>속도 오차가 장시간 남으면 </a:t>
                      </a:r>
                      <a:r>
                        <a:rPr lang="ko-KR" altLang="en-US" sz="1200" b="0" i="0" dirty="0" err="1"/>
                        <a:t>누적시켜서</a:t>
                      </a:r>
                      <a:r>
                        <a:rPr lang="ko-KR" altLang="en-US" sz="1200" b="0" i="0" dirty="0"/>
                        <a:t> </a:t>
                      </a:r>
                      <a:r>
                        <a:rPr lang="ko-KR" altLang="en-US" sz="1200" b="0" i="0" dirty="0" err="1"/>
                        <a:t>보정시킴</a:t>
                      </a:r>
                      <a:endParaRPr lang="en-US" altLang="ko-KR" sz="1200" b="0" i="0" dirty="0"/>
                    </a:p>
                    <a:p>
                      <a:pPr algn="just" latinLnBrk="1"/>
                      <a:r>
                        <a:rPr lang="ko-KR" altLang="en-US" sz="1200" b="0" i="0" dirty="0"/>
                        <a:t>풍속이나 작은 </a:t>
                      </a:r>
                      <a:r>
                        <a:rPr lang="ko-KR" altLang="en-US" sz="1200" b="0" i="0" dirty="0" err="1"/>
                        <a:t>외란에서</a:t>
                      </a:r>
                      <a:r>
                        <a:rPr lang="ko-KR" altLang="en-US" sz="1200" b="0" i="0" dirty="0"/>
                        <a:t> </a:t>
                      </a:r>
                      <a:r>
                        <a:rPr lang="en-US" altLang="ko-KR" sz="1200" b="0" i="0" dirty="0"/>
                        <a:t>steady state-error</a:t>
                      </a:r>
                      <a:r>
                        <a:rPr lang="ko-KR" altLang="en-US" sz="1200" b="0" i="0" dirty="0" err="1"/>
                        <a:t>를</a:t>
                      </a:r>
                      <a:r>
                        <a:rPr lang="ko-KR" altLang="en-US" sz="1200" b="0" i="0" dirty="0"/>
                        <a:t> </a:t>
                      </a:r>
                      <a:r>
                        <a:rPr lang="ko-KR" altLang="en-US" sz="1200" b="0" i="0" dirty="0" err="1"/>
                        <a:t>없애줌</a:t>
                      </a:r>
                      <a:endParaRPr lang="en-US" altLang="ko-KR" sz="1200" b="0" i="0" dirty="0"/>
                    </a:p>
                    <a:p>
                      <a:pPr algn="just" latinLnBrk="1"/>
                      <a:r>
                        <a:rPr lang="ko-KR" altLang="en-US" sz="1200" b="0" i="0" dirty="0"/>
                        <a:t>적분 항이 너무 쌓이면 </a:t>
                      </a:r>
                      <a:r>
                        <a:rPr lang="en-US" altLang="ko-KR" sz="1200" b="0" i="0" dirty="0"/>
                        <a:t>wind-up -&gt; anti-reset windup </a:t>
                      </a:r>
                      <a:r>
                        <a:rPr lang="ko-KR" altLang="en-US" sz="1200" b="0" i="0" dirty="0"/>
                        <a:t>방식으로 제한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0" i="0" dirty="0"/>
                        <a:t>I</a:t>
                      </a:r>
                      <a:r>
                        <a:rPr lang="ko-KR" altLang="en-US" sz="1200" b="0" i="0" dirty="0"/>
                        <a:t>값이 너무 크면 진동</a:t>
                      </a:r>
                      <a:r>
                        <a:rPr lang="en-US" altLang="ko-KR" sz="1200" b="0" i="0" dirty="0"/>
                        <a:t>, </a:t>
                      </a:r>
                      <a:r>
                        <a:rPr lang="ko-KR" altLang="en-US" sz="1200" b="0" i="0" dirty="0" err="1"/>
                        <a:t>드리프트</a:t>
                      </a:r>
                      <a:endParaRPr lang="en-US" altLang="ko-KR" sz="1200" b="0" i="0" dirty="0"/>
                    </a:p>
                    <a:p>
                      <a:pPr algn="just" latinLnBrk="1"/>
                      <a:r>
                        <a:rPr lang="ko-KR" altLang="en-US" sz="1200" b="0" i="0" dirty="0"/>
                        <a:t>너무 작으면 </a:t>
                      </a:r>
                      <a:r>
                        <a:rPr lang="ko-KR" altLang="en-US" sz="1200" b="0" i="0" dirty="0" err="1"/>
                        <a:t>외란</a:t>
                      </a:r>
                      <a:r>
                        <a:rPr lang="ko-KR" altLang="en-US" sz="1200" b="0" i="0" dirty="0"/>
                        <a:t> 보정 약화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9609546"/>
                  </a:ext>
                </a:extLst>
              </a:tr>
              <a:tr h="536513">
                <a:tc vMerge="1">
                  <a:txBody>
                    <a:bodyPr/>
                    <a:lstStyle/>
                    <a:p>
                      <a:pPr algn="just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" altLang="ko-KR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MPC_XY_VEL_D_AC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lang="en" altLang="ko-KR" sz="1200" dirty="0"/>
                        <a:t> </a:t>
                      </a:r>
                      <a:r>
                        <a:rPr lang="en" altLang="ko-KR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MPC_Z_VEL_D_ACC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0" i="0" dirty="0"/>
                        <a:t>D</a:t>
                      </a:r>
                      <a:endParaRPr lang="ko-KR" altLang="en-US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200" b="0" i="0" dirty="0"/>
                        <a:t>오차 변화율 감쇠</a:t>
                      </a:r>
                      <a:r>
                        <a:rPr lang="en-US" altLang="ko-KR" sz="1200" b="0" i="0" dirty="0"/>
                        <a:t>, </a:t>
                      </a:r>
                      <a:r>
                        <a:rPr lang="ko-KR" altLang="en-US" sz="1200" b="0" i="0" dirty="0"/>
                        <a:t>반응을 부드럽게</a:t>
                      </a:r>
                      <a:r>
                        <a:rPr lang="en-US" altLang="ko-KR" sz="1200" b="0" i="0" dirty="0"/>
                        <a:t>, overshoot </a:t>
                      </a:r>
                      <a:r>
                        <a:rPr lang="ko-KR" altLang="en-US" sz="1200" b="0" i="0" dirty="0"/>
                        <a:t>억제</a:t>
                      </a:r>
                      <a:endParaRPr lang="en-US" altLang="ko-KR" sz="1200" b="0" i="0" dirty="0"/>
                    </a:p>
                    <a:p>
                      <a:pPr algn="just" latinLnBrk="1"/>
                      <a:r>
                        <a:rPr lang="ko-KR" altLang="en-US" sz="1200" b="0" i="0" dirty="0" err="1"/>
                        <a:t>자이로</a:t>
                      </a:r>
                      <a:r>
                        <a:rPr lang="ko-KR" altLang="en-US" sz="1200" b="0" i="0" dirty="0"/>
                        <a:t> 노이즈나 </a:t>
                      </a:r>
                      <a:r>
                        <a:rPr lang="en-US" altLang="ko-KR" sz="1200" b="0" i="0" dirty="0"/>
                        <a:t>GPS </a:t>
                      </a:r>
                      <a:r>
                        <a:rPr lang="ko-KR" altLang="en-US" sz="1200" b="0" i="0" dirty="0"/>
                        <a:t>노이즈 때문에 </a:t>
                      </a:r>
                      <a:r>
                        <a:rPr lang="en-US" altLang="ko-KR" sz="1200" b="0" i="0" dirty="0"/>
                        <a:t>LPF(</a:t>
                      </a:r>
                      <a:r>
                        <a:rPr lang="ko-KR" altLang="en-US" sz="1200" b="0" i="0" dirty="0" err="1"/>
                        <a:t>저역통과</a:t>
                      </a:r>
                      <a:r>
                        <a:rPr lang="ko-KR" altLang="en-US" sz="1200" b="0" i="0" dirty="0"/>
                        <a:t> 필터</a:t>
                      </a:r>
                      <a:r>
                        <a:rPr lang="en-US" altLang="ko-KR" sz="1200" b="0" i="0" dirty="0"/>
                        <a:t>)</a:t>
                      </a:r>
                      <a:r>
                        <a:rPr lang="ko-KR" altLang="en-US" sz="1200" b="0" i="0" dirty="0" err="1"/>
                        <a:t>를</a:t>
                      </a:r>
                      <a:r>
                        <a:rPr lang="ko-KR" altLang="en-US" sz="1200" b="0" i="0" dirty="0"/>
                        <a:t> 넣어서 </a:t>
                      </a:r>
                      <a:r>
                        <a:rPr lang="ko-KR" altLang="en-US" sz="1200" b="0" i="0" dirty="0" err="1"/>
                        <a:t>미분값을</a:t>
                      </a:r>
                      <a:r>
                        <a:rPr lang="ko-KR" altLang="en-US" sz="1200" b="0" i="0" dirty="0"/>
                        <a:t> 부드럽게 함</a:t>
                      </a:r>
                      <a:r>
                        <a:rPr lang="en-US" altLang="ko-KR" sz="1200" b="0" i="0" dirty="0"/>
                        <a:t>.</a:t>
                      </a:r>
                      <a:endParaRPr lang="ko-KR" altLang="en-US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0" i="0" dirty="0"/>
                        <a:t>D</a:t>
                      </a:r>
                      <a:r>
                        <a:rPr lang="ko-KR" altLang="en-US" sz="1200" b="0" i="0" dirty="0"/>
                        <a:t>값이 너무 크면 노이즈</a:t>
                      </a:r>
                      <a:r>
                        <a:rPr lang="en-US" altLang="ko-KR" sz="1200" b="0" i="0" dirty="0"/>
                        <a:t>, </a:t>
                      </a:r>
                      <a:r>
                        <a:rPr lang="ko-KR" altLang="en-US" sz="1200" b="0" i="0" dirty="0"/>
                        <a:t>미세 떨림</a:t>
                      </a:r>
                      <a:endParaRPr lang="en-US" altLang="ko-KR" sz="1200" b="0" i="0" dirty="0"/>
                    </a:p>
                    <a:p>
                      <a:pPr algn="just" latinLnBrk="1"/>
                      <a:r>
                        <a:rPr lang="ko-KR" altLang="en-US" sz="1200" b="0" i="0" dirty="0"/>
                        <a:t>너무 작으면 </a:t>
                      </a:r>
                      <a:r>
                        <a:rPr lang="en-US" altLang="ko-KR" sz="1200" b="0" i="0" dirty="0"/>
                        <a:t>overshoot</a:t>
                      </a:r>
                      <a:r>
                        <a:rPr lang="ko-KR" altLang="en-US" sz="1200" b="0" i="0" dirty="0"/>
                        <a:t>증가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1684102"/>
                  </a:ext>
                </a:extLst>
              </a:tr>
            </a:tbl>
          </a:graphicData>
        </a:graphic>
      </p:graphicFrame>
      <p:sp>
        <p:nvSpPr>
          <p:cNvPr id="2" name="AutoShape 2" descr="업로드한 이미지">
            <a:extLst>
              <a:ext uri="{FF2B5EF4-FFF2-40B4-BE49-F238E27FC236}">
                <a16:creationId xmlns:a16="http://schemas.microsoft.com/office/drawing/2014/main" id="{1A7166E3-0C94-FEDC-EB81-550E48326D7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9825B2F-4010-A0BA-E823-1B5ABDEBD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9511" y="136480"/>
            <a:ext cx="3932451" cy="22814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97F35E-BED4-8069-B5DE-9A8553A82D38}"/>
              </a:ext>
            </a:extLst>
          </p:cNvPr>
          <p:cNvSpPr txBox="1"/>
          <p:nvPr/>
        </p:nvSpPr>
        <p:spPr>
          <a:xfrm>
            <a:off x="606188" y="2533255"/>
            <a:ext cx="838441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Position</a:t>
            </a:r>
            <a:r>
              <a:rPr kumimoji="1" lang="ko-KR" altLang="en-US" dirty="0"/>
              <a:t>은 얼마만큼 멀리 떨어졌는지</a:t>
            </a:r>
            <a:r>
              <a:rPr kumimoji="1" lang="en-US" altLang="ko-KR" dirty="0"/>
              <a:t>, </a:t>
            </a:r>
            <a:r>
              <a:rPr kumimoji="1" lang="ko-KR" altLang="en-US" dirty="0"/>
              <a:t>얼마나 빠르게 가야 하는지 결정</a:t>
            </a:r>
            <a:endParaRPr kumimoji="1" lang="en-US" altLang="ko-KR" dirty="0"/>
          </a:p>
          <a:p>
            <a:r>
              <a:rPr kumimoji="1" lang="en-US" altLang="ko-KR" dirty="0"/>
              <a:t>Velocity</a:t>
            </a:r>
            <a:r>
              <a:rPr kumimoji="1" lang="ko-KR" altLang="en-US" dirty="0"/>
              <a:t>는 지금의 속도가 너무 </a:t>
            </a:r>
            <a:r>
              <a:rPr kumimoji="1" lang="ko-KR" altLang="en-US" dirty="0" err="1"/>
              <a:t>느린지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빠른지</a:t>
            </a:r>
            <a:r>
              <a:rPr kumimoji="1" lang="en-US" altLang="ko-KR" dirty="0"/>
              <a:t>, </a:t>
            </a:r>
            <a:r>
              <a:rPr kumimoji="1" lang="ko-KR" altLang="en-US" dirty="0"/>
              <a:t>얼마나 가</a:t>
            </a:r>
            <a:r>
              <a:rPr kumimoji="1" lang="en-US" altLang="ko-KR" dirty="0"/>
              <a:t>/</a:t>
            </a:r>
            <a:r>
              <a:rPr kumimoji="1" lang="ko-KR" altLang="en-US" dirty="0"/>
              <a:t>감속 </a:t>
            </a:r>
            <a:r>
              <a:rPr kumimoji="1" lang="ko-KR" altLang="en-US" dirty="0" err="1"/>
              <a:t>해야하는지</a:t>
            </a:r>
            <a:r>
              <a:rPr kumimoji="1" lang="ko-KR" altLang="en-US" dirty="0"/>
              <a:t> 결정</a:t>
            </a:r>
            <a:r>
              <a:rPr kumimoji="1" lang="en-US" altLang="ko-KR" dirty="0"/>
              <a:t>,</a:t>
            </a:r>
          </a:p>
          <a:p>
            <a:r>
              <a:rPr kumimoji="1" lang="ko-KR" altLang="en-US" dirty="0"/>
              <a:t>기체가 속도 오차를 얼마나 강하게 가</a:t>
            </a:r>
            <a:r>
              <a:rPr kumimoji="1" lang="en-US" altLang="ko-KR" dirty="0"/>
              <a:t>/</a:t>
            </a:r>
            <a:r>
              <a:rPr kumimoji="1" lang="ko-KR" altLang="en-US" dirty="0"/>
              <a:t>감속할지를 보정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ko-KR" altLang="en-US" dirty="0"/>
              <a:t>속도 목표 </a:t>
            </a:r>
            <a:r>
              <a:rPr kumimoji="1" lang="en-US" altLang="ko-KR" dirty="0" err="1"/>
              <a:t>v_sp</a:t>
            </a:r>
            <a:r>
              <a:rPr kumimoji="1" lang="ko-KR" altLang="en-US" dirty="0"/>
              <a:t>와 실제 속도의 차이를 받아서 가속도 명령 </a:t>
            </a:r>
            <a:r>
              <a:rPr kumimoji="1" lang="en-US" altLang="ko-KR" dirty="0" err="1"/>
              <a:t>a_sp</a:t>
            </a:r>
            <a:r>
              <a:rPr kumimoji="1" lang="ko-KR" altLang="en-US" dirty="0"/>
              <a:t>로 바꾼다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200965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내용 개체 틀 3">
            <a:extLst>
              <a:ext uri="{FF2B5EF4-FFF2-40B4-BE49-F238E27FC236}">
                <a16:creationId xmlns:a16="http://schemas.microsoft.com/office/drawing/2014/main" id="{5935814E-437C-4489-B8E1-37AF8A98C6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0142"/>
          <a:stretch>
            <a:fillRect/>
          </a:stretch>
        </p:blipFill>
        <p:spPr>
          <a:xfrm>
            <a:off x="136480" y="136480"/>
            <a:ext cx="4216011" cy="1720961"/>
          </a:xfrm>
          <a:prstGeom prst="rect">
            <a:avLst/>
          </a:prstGeom>
        </p:spPr>
      </p:pic>
      <p:pic>
        <p:nvPicPr>
          <p:cNvPr id="11" name="내용 개체 틀 10">
            <a:extLst>
              <a:ext uri="{FF2B5EF4-FFF2-40B4-BE49-F238E27FC236}">
                <a16:creationId xmlns:a16="http://schemas.microsoft.com/office/drawing/2014/main" id="{22F6E0AB-BDE5-759C-6D7E-17476234FF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522054" y="219712"/>
            <a:ext cx="5047131" cy="22057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표 13">
                <a:extLst>
                  <a:ext uri="{FF2B5EF4-FFF2-40B4-BE49-F238E27FC236}">
                    <a16:creationId xmlns:a16="http://schemas.microsoft.com/office/drawing/2014/main" id="{DA00FB2E-E06C-6328-C26A-83481AFA70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6355594"/>
                  </p:ext>
                </p:extLst>
              </p:nvPr>
            </p:nvGraphicFramePr>
            <p:xfrm>
              <a:off x="606188" y="2962907"/>
              <a:ext cx="11444785" cy="340785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73245">
                      <a:extLst>
                        <a:ext uri="{9D8B030D-6E8A-4147-A177-3AD203B41FA5}">
                          <a16:colId xmlns:a16="http://schemas.microsoft.com/office/drawing/2014/main" val="3731408904"/>
                        </a:ext>
                      </a:extLst>
                    </a:gridCol>
                    <a:gridCol w="1725119">
                      <a:extLst>
                        <a:ext uri="{9D8B030D-6E8A-4147-A177-3AD203B41FA5}">
                          <a16:colId xmlns:a16="http://schemas.microsoft.com/office/drawing/2014/main" val="1061248062"/>
                        </a:ext>
                      </a:extLst>
                    </a:gridCol>
                    <a:gridCol w="723934">
                      <a:extLst>
                        <a:ext uri="{9D8B030D-6E8A-4147-A177-3AD203B41FA5}">
                          <a16:colId xmlns:a16="http://schemas.microsoft.com/office/drawing/2014/main" val="1149567345"/>
                        </a:ext>
                      </a:extLst>
                    </a:gridCol>
                    <a:gridCol w="4081757">
                      <a:extLst>
                        <a:ext uri="{9D8B030D-6E8A-4147-A177-3AD203B41FA5}">
                          <a16:colId xmlns:a16="http://schemas.microsoft.com/office/drawing/2014/main" val="285685895"/>
                        </a:ext>
                      </a:extLst>
                    </a:gridCol>
                    <a:gridCol w="3940730">
                      <a:extLst>
                        <a:ext uri="{9D8B030D-6E8A-4147-A177-3AD203B41FA5}">
                          <a16:colId xmlns:a16="http://schemas.microsoft.com/office/drawing/2014/main" val="628529123"/>
                        </a:ext>
                      </a:extLst>
                    </a:gridCol>
                  </a:tblGrid>
                  <a:tr h="517094"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ko-KR" altLang="en-US" sz="1400" dirty="0"/>
                            <a:t>용어</a:t>
                          </a:r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ko-KR" altLang="en-US" sz="1400" dirty="0"/>
                            <a:t>관련 파라미터</a:t>
                          </a:r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ko-KR" altLang="en-US" sz="1400" dirty="0"/>
                            <a:t>축</a:t>
                          </a:r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400" dirty="0"/>
                            <a:t>의미</a:t>
                          </a:r>
                        </a:p>
                        <a:p>
                          <a:pPr algn="just" latinLnBrk="1"/>
                          <a:endParaRPr lang="ko-KR" altLang="en-US" sz="1400" dirty="0"/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en-US" altLang="ko-KR" sz="1400" dirty="0"/>
                            <a:t>Tuning </a:t>
                          </a:r>
                          <a:r>
                            <a:rPr lang="ko-KR" altLang="en-US" sz="1400" dirty="0"/>
                            <a:t>수정사항</a:t>
                          </a:r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3991548"/>
                      </a:ext>
                    </a:extLst>
                  </a:tr>
                  <a:tr h="536513">
                    <a:tc rowSpan="2">
                      <a:txBody>
                        <a:bodyPr/>
                        <a:lstStyle/>
                        <a:p>
                          <a:pPr algn="just" latinLnBrk="1"/>
                          <a:endParaRPr lang="en-US" altLang="ko-KR" sz="1200" dirty="0"/>
                        </a:p>
                        <a:p>
                          <a:pPr algn="just" latinLnBrk="1"/>
                          <a:r>
                            <a:rPr lang="en-US" altLang="ko-KR" sz="1200" dirty="0"/>
                            <a:t>K_P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en-US" altLang="ko-KR" sz="1200" dirty="0"/>
                            <a:t>MPC_XY_P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en-US" altLang="ko-KR" sz="1200" b="0" i="0" dirty="0"/>
                            <a:t>XY</a:t>
                          </a:r>
                          <a:endParaRPr lang="ko-KR" altLang="en-US" sz="1200" b="0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ko-KR" altLang="en-US" sz="1200" b="0" i="0" dirty="0"/>
                            <a:t>위치 오차 </a:t>
                          </a:r>
                          <a:r>
                            <a:rPr lang="en-US" altLang="ko-KR" sz="1200" b="0" i="0" dirty="0"/>
                            <a:t>-&gt;</a:t>
                          </a:r>
                          <a:r>
                            <a:rPr lang="ko-KR" altLang="en-US" sz="1200" b="0" i="0" dirty="0"/>
                            <a:t> 수평 속도 목표로 바꾸는 </a:t>
                          </a:r>
                          <a:r>
                            <a:rPr lang="en-US" altLang="ko-KR" sz="1200" b="0" i="0" dirty="0"/>
                            <a:t>P gain</a:t>
                          </a:r>
                        </a:p>
                        <a:p>
                          <a:pPr algn="just" latinLnBrk="1"/>
                          <a:r>
                            <a:rPr lang="ko-KR" altLang="en-US" sz="1200" b="0" i="0" dirty="0"/>
                            <a:t>크면 위치 복원력이 강해지고 빠르게 끌어당기고 과하면 흔들림</a:t>
                          </a:r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just" latinLnBrk="1"/>
                          <a:r>
                            <a:rPr lang="ko-KR" altLang="en-US" sz="1200" b="0" i="0" dirty="0"/>
                            <a:t>위 값을 올리면 위치 복원은 빨라지나</a:t>
                          </a:r>
                          <a:r>
                            <a:rPr lang="en-US" altLang="ko-KR" sz="1200" b="0" i="0" dirty="0"/>
                            <a:t>,</a:t>
                          </a:r>
                          <a:r>
                            <a:rPr lang="ko-KR" altLang="en-US" sz="1200" b="0" i="0" dirty="0"/>
                            <a:t> 너무 크면 흔들린다</a:t>
                          </a:r>
                          <a:r>
                            <a:rPr lang="en-US" altLang="ko-KR" sz="1200" b="0" i="0" dirty="0"/>
                            <a:t>.</a:t>
                          </a:r>
                          <a:endParaRPr lang="ko-KR" altLang="en-US" sz="1200" b="0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62450731"/>
                      </a:ext>
                    </a:extLst>
                  </a:tr>
                  <a:tr h="536513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en-US" altLang="ko-KR" sz="1200" dirty="0"/>
                            <a:t>MPC_Z_P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en-US" altLang="ko-KR" sz="1200" b="0" i="0" dirty="0"/>
                            <a:t>Z</a:t>
                          </a:r>
                          <a:endParaRPr lang="ko-KR" altLang="en-US" sz="1200" b="0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ko-KR" altLang="en-US" sz="1200" b="0" i="0" dirty="0"/>
                            <a:t>위치 오차 </a:t>
                          </a:r>
                          <a:r>
                            <a:rPr lang="en-US" altLang="ko-KR" sz="1200" b="0" i="0" dirty="0"/>
                            <a:t>-&gt;</a:t>
                          </a:r>
                          <a:r>
                            <a:rPr lang="ko-KR" altLang="en-US" sz="1200" b="0" i="0" dirty="0"/>
                            <a:t> 수직 속도 목표로 바꾸는 </a:t>
                          </a:r>
                          <a:r>
                            <a:rPr lang="en-US" altLang="ko-KR" sz="1200" b="0" i="0" dirty="0"/>
                            <a:t>P gain</a:t>
                          </a:r>
                        </a:p>
                        <a:p>
                          <a:pPr algn="just" latinLnBrk="1"/>
                          <a:r>
                            <a:rPr lang="ko-KR" altLang="en-US" sz="1200" b="0" i="0" dirty="0"/>
                            <a:t>크면 고도 복원 </a:t>
                          </a:r>
                          <a:r>
                            <a:rPr lang="ko-KR" altLang="en-US" sz="1200" b="0" i="0" dirty="0" err="1"/>
                            <a:t>빨라짐</a:t>
                          </a:r>
                          <a:r>
                            <a:rPr lang="en-US" altLang="ko-KR" sz="1200" b="0" i="0" dirty="0"/>
                            <a:t>,</a:t>
                          </a:r>
                          <a:r>
                            <a:rPr lang="ko-KR" altLang="en-US" sz="1200" b="0" i="0" dirty="0"/>
                            <a:t> 과하면 상하진동 </a:t>
                          </a:r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200" b="0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79609546"/>
                      </a:ext>
                    </a:extLst>
                  </a:tr>
                  <a:tr h="536513">
                    <a:tc>
                      <a:txBody>
                        <a:bodyPr/>
                        <a:lstStyle/>
                        <a:p>
                          <a:pPr algn="just" latinLnBrk="1"/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en" altLang="ko-KR" sz="1200" dirty="0"/>
                            <a:t>MPC_XY_VEL_MAX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en-US" altLang="ko-KR" sz="1200" b="0" i="0" dirty="0"/>
                            <a:t>XY</a:t>
                          </a:r>
                          <a:endParaRPr lang="ko-KR" altLang="en-US" sz="1200" b="0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ko-KR" altLang="en-US" sz="1200" b="0" i="0" dirty="0"/>
                            <a:t>명령 가능한 수평 속도의 절대 상한</a:t>
                          </a:r>
                          <a:r>
                            <a:rPr lang="en-US" altLang="ko-KR" sz="1200" b="0" i="0" dirty="0"/>
                            <a:t>(</a:t>
                          </a:r>
                          <a:r>
                            <a:rPr lang="ko-KR" altLang="en-US" sz="1200" b="0" i="0" dirty="0"/>
                            <a:t>포화</a:t>
                          </a:r>
                          <a:r>
                            <a:rPr lang="en-US" altLang="ko-KR" sz="1200" b="0" i="0" dirty="0"/>
                            <a:t>). </a:t>
                          </a:r>
                          <a:r>
                            <a:rPr lang="ko-KR" altLang="en-US" sz="1200" b="0" i="0" dirty="0"/>
                            <a:t>이 값보다 빠른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altLang="ko-KR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ar-AE" altLang="ko-KR" sz="1200" b="0" i="0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ar-AE" altLang="ko-KR" sz="1200" b="0" i="0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sp</m:t>
                                  </m:r>
                                </m:sub>
                              </m:sSub>
                            </m:oMath>
                          </a14:m>
                          <a:r>
                            <a:rPr lang="ko-KR" altLang="en-US" sz="1200" b="0" i="0" dirty="0"/>
                            <a:t>는 내보내지 않음</a:t>
                          </a:r>
                          <a:r>
                            <a:rPr lang="en-US" altLang="ko-KR" sz="1200" b="0" i="0" dirty="0"/>
                            <a:t>.</a:t>
                          </a:r>
                          <a:endParaRPr lang="ko-KR" altLang="en-US" sz="1200" b="0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ko-KR" altLang="en-US" sz="1200" b="0" i="0" dirty="0"/>
                            <a:t>위 값을 줄이면 </a:t>
                          </a:r>
                          <a:r>
                            <a:rPr lang="ko-KR" altLang="en-US" sz="1200" b="0" i="0" dirty="0" err="1"/>
                            <a:t>급가속</a:t>
                          </a:r>
                          <a:r>
                            <a:rPr lang="en-US" altLang="ko-KR" sz="1200" b="0" i="0" dirty="0"/>
                            <a:t>,</a:t>
                          </a:r>
                          <a:r>
                            <a:rPr lang="ko-KR" altLang="en-US" sz="1200" b="0" i="0" dirty="0"/>
                            <a:t> 급회전을 억제하지만 기동성이 감소한다</a:t>
                          </a:r>
                          <a:r>
                            <a:rPr lang="en-US" altLang="ko-KR" sz="1200" b="0" i="0" dirty="0"/>
                            <a:t>.</a:t>
                          </a:r>
                          <a:endParaRPr lang="ko-KR" altLang="en-US" sz="1200" b="0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81684102"/>
                      </a:ext>
                    </a:extLst>
                  </a:tr>
                  <a:tr h="536513">
                    <a:tc>
                      <a:txBody>
                        <a:bodyPr/>
                        <a:lstStyle/>
                        <a:p>
                          <a:pPr algn="just" latinLnBrk="1"/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en" altLang="ko-KR" sz="1200" dirty="0"/>
                            <a:t>MPC_XY_CRUISE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i="0" dirty="0"/>
                            <a:t>XY</a:t>
                          </a:r>
                          <a:endParaRPr lang="ko-KR" altLang="en-US" sz="1200" b="0" i="0" dirty="0"/>
                        </a:p>
                        <a:p>
                          <a:pPr algn="just" latinLnBrk="1"/>
                          <a:endParaRPr lang="ko-KR" altLang="en-US" sz="1200" b="0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ko-KR" altLang="en-US" sz="1200" b="0" i="0" dirty="0"/>
                            <a:t>원하는 순항 속도</a:t>
                          </a:r>
                          <a:r>
                            <a:rPr lang="en-US" altLang="ko-KR" sz="1200" b="0" i="0" dirty="0"/>
                            <a:t>(</a:t>
                          </a:r>
                          <a:r>
                            <a:rPr lang="ko-KR" altLang="en-US" sz="1200" b="0" i="0" dirty="0"/>
                            <a:t>미션</a:t>
                          </a:r>
                          <a:r>
                            <a:rPr lang="en-US" altLang="ko-KR" sz="1200" b="0" i="0" dirty="0"/>
                            <a:t>/</a:t>
                          </a:r>
                          <a:r>
                            <a:rPr lang="ko-KR" altLang="en-US" sz="1200" b="0" i="0" dirty="0"/>
                            <a:t>자율모드에서 궤적 생성 시 목표로 삼는 “보통 속도”</a:t>
                          </a:r>
                          <a:r>
                            <a:rPr lang="en-US" altLang="ko-KR" sz="1200" b="0" i="0" dirty="0"/>
                            <a:t>). </a:t>
                          </a:r>
                          <a:r>
                            <a:rPr lang="ko-KR" altLang="en-US" sz="1200" b="0" i="0" dirty="0"/>
                            <a:t>최대치는 아님</a:t>
                          </a:r>
                          <a:r>
                            <a:rPr lang="en-US" altLang="ko-KR" sz="1200" b="0" i="0" dirty="0"/>
                            <a:t>.</a:t>
                          </a:r>
                          <a:endParaRPr lang="ko-KR" altLang="en-US" sz="1200" b="0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ko-KR" altLang="en-US" sz="1200" b="0" i="0" dirty="0"/>
                            <a:t>위 값을 올리면 자율주행 궤적이 빨라진다</a:t>
                          </a:r>
                          <a:r>
                            <a:rPr lang="en-US" altLang="ko-KR" sz="1200" b="0" i="0" dirty="0"/>
                            <a:t>.</a:t>
                          </a:r>
                          <a:endParaRPr lang="ko-KR" altLang="en-US" sz="1200" b="0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255449"/>
                      </a:ext>
                    </a:extLst>
                  </a:tr>
                  <a:tr h="536513">
                    <a:tc>
                      <a:txBody>
                        <a:bodyPr/>
                        <a:lstStyle/>
                        <a:p>
                          <a:pPr algn="just" latinLnBrk="1"/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en" altLang="ko-KR" sz="1200" dirty="0"/>
                            <a:t>MPC_VEL_MANUAL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i="0" dirty="0"/>
                            <a:t>XY</a:t>
                          </a:r>
                          <a:endParaRPr lang="ko-KR" altLang="en-US" sz="1200" b="0" i="0" dirty="0"/>
                        </a:p>
                        <a:p>
                          <a:pPr algn="just" latinLnBrk="1"/>
                          <a:endParaRPr lang="ko-KR" altLang="en-US" sz="1200" b="0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ko-KR" altLang="en-US" sz="1200" b="0" i="0" dirty="0"/>
                            <a:t>수동 </a:t>
                          </a:r>
                          <a:r>
                            <a:rPr lang="en" altLang="ko-KR" sz="1200" b="0" i="0" dirty="0"/>
                            <a:t>Position </a:t>
                          </a:r>
                          <a:r>
                            <a:rPr lang="ko-KR" altLang="en-US" sz="1200" b="0" i="0" dirty="0"/>
                            <a:t>모드에서 스틱 </a:t>
                          </a:r>
                          <a:r>
                            <a:rPr lang="en-US" altLang="ko-KR" sz="1200" b="0" i="0" dirty="0"/>
                            <a:t>100%</a:t>
                          </a:r>
                          <a:r>
                            <a:rPr lang="ko-KR" altLang="en-US" sz="1200" b="0" i="0" dirty="0" err="1"/>
                            <a:t>에</a:t>
                          </a:r>
                          <a:r>
                            <a:rPr lang="ko-KR" altLang="en-US" sz="1200" b="0" i="0" dirty="0"/>
                            <a:t> 대응하는 목표 속도</a:t>
                          </a:r>
                          <a:r>
                            <a:rPr lang="en-US" altLang="ko-KR" sz="1200" b="0" i="0" dirty="0"/>
                            <a:t>(“</a:t>
                          </a:r>
                          <a:r>
                            <a:rPr lang="ko-KR" altLang="en-US" sz="1200" b="0" i="0" dirty="0"/>
                            <a:t>조작 감도”</a:t>
                          </a:r>
                          <a:r>
                            <a:rPr lang="en-US" altLang="ko-KR" sz="1200" b="0" i="0" dirty="0"/>
                            <a:t>). </a:t>
                          </a:r>
                          <a:r>
                            <a:rPr lang="ko-KR" altLang="en-US" sz="1200" b="0" i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*</a:t>
                          </a:r>
                          <a:r>
                            <a:rPr lang="en-US" altLang="ko-KR" sz="1200" b="0" i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_</a:t>
                          </a:r>
                          <a:r>
                            <a:rPr lang="en" altLang="ko-KR" sz="1200" b="0" i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VEL_MAX</a:t>
                          </a:r>
                          <a:r>
                            <a:rPr lang="ko-KR" altLang="en-US" sz="1200" b="0" i="0" dirty="0"/>
                            <a:t>와 구분</a:t>
                          </a:r>
                          <a:r>
                            <a:rPr lang="en-US" altLang="ko-KR" sz="1200" b="0" i="0" dirty="0"/>
                            <a:t>! (</a:t>
                          </a:r>
                          <a:r>
                            <a:rPr lang="en" altLang="ko-KR" sz="1200" b="0" i="0" dirty="0"/>
                            <a:t>MAX=</a:t>
                          </a:r>
                          <a:r>
                            <a:rPr lang="ko-KR" altLang="en-US" sz="1200" b="0" i="0" dirty="0" err="1"/>
                            <a:t>하드캡</a:t>
                          </a:r>
                          <a:r>
                            <a:rPr lang="en-US" altLang="ko-KR" sz="1200" b="0" i="0" dirty="0"/>
                            <a:t>, </a:t>
                          </a:r>
                          <a:r>
                            <a:rPr lang="en" altLang="ko-KR" sz="1200" b="0" i="0" dirty="0"/>
                            <a:t>MANUAL/CRUISE=</a:t>
                          </a:r>
                          <a:r>
                            <a:rPr lang="ko-KR" altLang="en-US" sz="1200" b="0" i="0" dirty="0"/>
                            <a:t>선호속도</a:t>
                          </a:r>
                          <a:r>
                            <a:rPr lang="en-US" altLang="ko-KR" sz="1200" b="0" i="0" dirty="0"/>
                            <a:t>)</a:t>
                          </a:r>
                          <a:endParaRPr lang="ko-KR" altLang="en-US" sz="1200" b="0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endParaRPr lang="ko-KR" altLang="en-US" sz="1200" b="0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165070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표 13">
                <a:extLst>
                  <a:ext uri="{FF2B5EF4-FFF2-40B4-BE49-F238E27FC236}">
                    <a16:creationId xmlns:a16="http://schemas.microsoft.com/office/drawing/2014/main" id="{DA00FB2E-E06C-6328-C26A-83481AFA70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6355594"/>
                  </p:ext>
                </p:extLst>
              </p:nvPr>
            </p:nvGraphicFramePr>
            <p:xfrm>
              <a:off x="606188" y="2962907"/>
              <a:ext cx="11444785" cy="340785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73245">
                      <a:extLst>
                        <a:ext uri="{9D8B030D-6E8A-4147-A177-3AD203B41FA5}">
                          <a16:colId xmlns:a16="http://schemas.microsoft.com/office/drawing/2014/main" val="3731408904"/>
                        </a:ext>
                      </a:extLst>
                    </a:gridCol>
                    <a:gridCol w="1725119">
                      <a:extLst>
                        <a:ext uri="{9D8B030D-6E8A-4147-A177-3AD203B41FA5}">
                          <a16:colId xmlns:a16="http://schemas.microsoft.com/office/drawing/2014/main" val="1061248062"/>
                        </a:ext>
                      </a:extLst>
                    </a:gridCol>
                    <a:gridCol w="723934">
                      <a:extLst>
                        <a:ext uri="{9D8B030D-6E8A-4147-A177-3AD203B41FA5}">
                          <a16:colId xmlns:a16="http://schemas.microsoft.com/office/drawing/2014/main" val="1149567345"/>
                        </a:ext>
                      </a:extLst>
                    </a:gridCol>
                    <a:gridCol w="4081757">
                      <a:extLst>
                        <a:ext uri="{9D8B030D-6E8A-4147-A177-3AD203B41FA5}">
                          <a16:colId xmlns:a16="http://schemas.microsoft.com/office/drawing/2014/main" val="285685895"/>
                        </a:ext>
                      </a:extLst>
                    </a:gridCol>
                    <a:gridCol w="3940730">
                      <a:extLst>
                        <a:ext uri="{9D8B030D-6E8A-4147-A177-3AD203B41FA5}">
                          <a16:colId xmlns:a16="http://schemas.microsoft.com/office/drawing/2014/main" val="628529123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ko-KR" altLang="en-US" sz="1400" dirty="0"/>
                            <a:t>용어</a:t>
                          </a:r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ko-KR" altLang="en-US" sz="1400" dirty="0"/>
                            <a:t>관련 파라미터</a:t>
                          </a:r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ko-KR" altLang="en-US" sz="1400" dirty="0"/>
                            <a:t>축</a:t>
                          </a:r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400" dirty="0"/>
                            <a:t>의미</a:t>
                          </a:r>
                        </a:p>
                        <a:p>
                          <a:pPr algn="just" latinLnBrk="1"/>
                          <a:endParaRPr lang="ko-KR" altLang="en-US" sz="1400" dirty="0"/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en-US" altLang="ko-KR" sz="1400" dirty="0"/>
                            <a:t>Tuning </a:t>
                          </a:r>
                          <a:r>
                            <a:rPr lang="ko-KR" altLang="en-US" sz="1400" dirty="0"/>
                            <a:t>수정사항</a:t>
                          </a:r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3991548"/>
                      </a:ext>
                    </a:extLst>
                  </a:tr>
                  <a:tr h="640080">
                    <a:tc rowSpan="2">
                      <a:txBody>
                        <a:bodyPr/>
                        <a:lstStyle/>
                        <a:p>
                          <a:pPr algn="just" latinLnBrk="1"/>
                          <a:endParaRPr lang="en-US" altLang="ko-KR" sz="1200" dirty="0"/>
                        </a:p>
                        <a:p>
                          <a:pPr algn="just" latinLnBrk="1"/>
                          <a:r>
                            <a:rPr lang="en-US" altLang="ko-KR" sz="1200" dirty="0"/>
                            <a:t>K_P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en-US" altLang="ko-KR" sz="1200" dirty="0"/>
                            <a:t>MPC_XY_P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en-US" altLang="ko-KR" sz="1200" b="0" i="0" dirty="0"/>
                            <a:t>XY</a:t>
                          </a:r>
                          <a:endParaRPr lang="ko-KR" altLang="en-US" sz="1200" b="0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ko-KR" altLang="en-US" sz="1200" b="0" i="0" dirty="0"/>
                            <a:t>위치 오차 </a:t>
                          </a:r>
                          <a:r>
                            <a:rPr lang="en-US" altLang="ko-KR" sz="1200" b="0" i="0" dirty="0"/>
                            <a:t>-&gt;</a:t>
                          </a:r>
                          <a:r>
                            <a:rPr lang="ko-KR" altLang="en-US" sz="1200" b="0" i="0" dirty="0"/>
                            <a:t> 수평 속도 목표로 바꾸는 </a:t>
                          </a:r>
                          <a:r>
                            <a:rPr lang="en-US" altLang="ko-KR" sz="1200" b="0" i="0" dirty="0"/>
                            <a:t>P gain</a:t>
                          </a:r>
                        </a:p>
                        <a:p>
                          <a:pPr algn="just" latinLnBrk="1"/>
                          <a:r>
                            <a:rPr lang="ko-KR" altLang="en-US" sz="1200" b="0" i="0" dirty="0"/>
                            <a:t>크면 위치 복원력이 강해지고 빠르게 끌어당기고 과하면 흔들림</a:t>
                          </a:r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just" latinLnBrk="1"/>
                          <a:r>
                            <a:rPr lang="ko-KR" altLang="en-US" sz="1200" b="0" i="0" dirty="0"/>
                            <a:t>위 값을 올리면 위치 복원은 빨라지나</a:t>
                          </a:r>
                          <a:r>
                            <a:rPr lang="en-US" altLang="ko-KR" sz="1200" b="0" i="0" dirty="0"/>
                            <a:t>,</a:t>
                          </a:r>
                          <a:r>
                            <a:rPr lang="ko-KR" altLang="en-US" sz="1200" b="0" i="0" dirty="0"/>
                            <a:t> 너무 크면 흔들린다</a:t>
                          </a:r>
                          <a:r>
                            <a:rPr lang="en-US" altLang="ko-KR" sz="1200" b="0" i="0" dirty="0"/>
                            <a:t>.</a:t>
                          </a:r>
                          <a:endParaRPr lang="ko-KR" altLang="en-US" sz="1200" b="0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62450731"/>
                      </a:ext>
                    </a:extLst>
                  </a:tr>
                  <a:tr h="536513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en-US" altLang="ko-KR" sz="1200" dirty="0"/>
                            <a:t>MPC_Z_P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en-US" altLang="ko-KR" sz="1200" b="0" i="0" dirty="0"/>
                            <a:t>Z</a:t>
                          </a:r>
                          <a:endParaRPr lang="ko-KR" altLang="en-US" sz="1200" b="0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ko-KR" altLang="en-US" sz="1200" b="0" i="0" dirty="0"/>
                            <a:t>위치 오차 </a:t>
                          </a:r>
                          <a:r>
                            <a:rPr lang="en-US" altLang="ko-KR" sz="1200" b="0" i="0" dirty="0"/>
                            <a:t>-&gt;</a:t>
                          </a:r>
                          <a:r>
                            <a:rPr lang="ko-KR" altLang="en-US" sz="1200" b="0" i="0" dirty="0"/>
                            <a:t> 수직 속도 목표로 바꾸는 </a:t>
                          </a:r>
                          <a:r>
                            <a:rPr lang="en-US" altLang="ko-KR" sz="1200" b="0" i="0" dirty="0"/>
                            <a:t>P gain</a:t>
                          </a:r>
                        </a:p>
                        <a:p>
                          <a:pPr algn="just" latinLnBrk="1"/>
                          <a:r>
                            <a:rPr lang="ko-KR" altLang="en-US" sz="1200" b="0" i="0" dirty="0"/>
                            <a:t>크면 고도 복원 </a:t>
                          </a:r>
                          <a:r>
                            <a:rPr lang="ko-KR" altLang="en-US" sz="1200" b="0" i="0" dirty="0" err="1"/>
                            <a:t>빨라짐</a:t>
                          </a:r>
                          <a:r>
                            <a:rPr lang="en-US" altLang="ko-KR" sz="1200" b="0" i="0" dirty="0"/>
                            <a:t>,</a:t>
                          </a:r>
                          <a:r>
                            <a:rPr lang="ko-KR" altLang="en-US" sz="1200" b="0" i="0" dirty="0"/>
                            <a:t> 과하면 상하진동 </a:t>
                          </a:r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200" b="0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79609546"/>
                      </a:ext>
                    </a:extLst>
                  </a:tr>
                  <a:tr h="536513">
                    <a:tc>
                      <a:txBody>
                        <a:bodyPr/>
                        <a:lstStyle/>
                        <a:p>
                          <a:pPr algn="just" latinLnBrk="1"/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en" altLang="ko-KR" sz="1200" dirty="0"/>
                            <a:t>MPC_XY_VEL_MAX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en-US" altLang="ko-KR" sz="1200" b="0" i="0" dirty="0"/>
                            <a:t>XY</a:t>
                          </a:r>
                          <a:endParaRPr lang="ko-KR" altLang="en-US" sz="1200" b="0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84112" t="-321429" r="-97196" b="-230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ko-KR" altLang="en-US" sz="1200" b="0" i="0" dirty="0"/>
                            <a:t>위 값을 줄이면 </a:t>
                          </a:r>
                          <a:r>
                            <a:rPr lang="ko-KR" altLang="en-US" sz="1200" b="0" i="0" dirty="0" err="1"/>
                            <a:t>급가속</a:t>
                          </a:r>
                          <a:r>
                            <a:rPr lang="en-US" altLang="ko-KR" sz="1200" b="0" i="0" dirty="0"/>
                            <a:t>,</a:t>
                          </a:r>
                          <a:r>
                            <a:rPr lang="ko-KR" altLang="en-US" sz="1200" b="0" i="0" dirty="0"/>
                            <a:t> 급회전을 억제하지만 기동성이 감소한다</a:t>
                          </a:r>
                          <a:r>
                            <a:rPr lang="en-US" altLang="ko-KR" sz="1200" b="0" i="0" dirty="0"/>
                            <a:t>.</a:t>
                          </a:r>
                          <a:endParaRPr lang="ko-KR" altLang="en-US" sz="1200" b="0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81684102"/>
                      </a:ext>
                    </a:extLst>
                  </a:tr>
                  <a:tr h="536513">
                    <a:tc>
                      <a:txBody>
                        <a:bodyPr/>
                        <a:lstStyle/>
                        <a:p>
                          <a:pPr algn="just" latinLnBrk="1"/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en" altLang="ko-KR" sz="1200" dirty="0"/>
                            <a:t>MPC_XY_CRUISE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i="0" dirty="0"/>
                            <a:t>XY</a:t>
                          </a:r>
                          <a:endParaRPr lang="ko-KR" altLang="en-US" sz="1200" b="0" i="0" dirty="0"/>
                        </a:p>
                        <a:p>
                          <a:pPr algn="just" latinLnBrk="1"/>
                          <a:endParaRPr lang="ko-KR" altLang="en-US" sz="1200" b="0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ko-KR" altLang="en-US" sz="1200" b="0" i="0" dirty="0"/>
                            <a:t>원하는 순항 속도</a:t>
                          </a:r>
                          <a:r>
                            <a:rPr lang="en-US" altLang="ko-KR" sz="1200" b="0" i="0" dirty="0"/>
                            <a:t>(</a:t>
                          </a:r>
                          <a:r>
                            <a:rPr lang="ko-KR" altLang="en-US" sz="1200" b="0" i="0" dirty="0"/>
                            <a:t>미션</a:t>
                          </a:r>
                          <a:r>
                            <a:rPr lang="en-US" altLang="ko-KR" sz="1200" b="0" i="0" dirty="0"/>
                            <a:t>/</a:t>
                          </a:r>
                          <a:r>
                            <a:rPr lang="ko-KR" altLang="en-US" sz="1200" b="0" i="0" dirty="0"/>
                            <a:t>자율모드에서 궤적 생성 시 목표로 삼는 “보통 속도”</a:t>
                          </a:r>
                          <a:r>
                            <a:rPr lang="en-US" altLang="ko-KR" sz="1200" b="0" i="0" dirty="0"/>
                            <a:t>). </a:t>
                          </a:r>
                          <a:r>
                            <a:rPr lang="ko-KR" altLang="en-US" sz="1200" b="0" i="0" dirty="0"/>
                            <a:t>최대치는 아님</a:t>
                          </a:r>
                          <a:r>
                            <a:rPr lang="en-US" altLang="ko-KR" sz="1200" b="0" i="0" dirty="0"/>
                            <a:t>.</a:t>
                          </a:r>
                          <a:endParaRPr lang="ko-KR" altLang="en-US" sz="1200" b="0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ko-KR" altLang="en-US" sz="1200" b="0" i="0" dirty="0"/>
                            <a:t>위 값을 올리면 자율주행 궤적이 빨라진다</a:t>
                          </a:r>
                          <a:r>
                            <a:rPr lang="en-US" altLang="ko-KR" sz="1200" b="0" i="0" dirty="0"/>
                            <a:t>.</a:t>
                          </a:r>
                          <a:endParaRPr lang="ko-KR" altLang="en-US" sz="1200" b="0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255449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just" latinLnBrk="1"/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en" altLang="ko-KR" sz="1200" dirty="0"/>
                            <a:t>MPC_VEL_MANUAL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i="0" dirty="0"/>
                            <a:t>XY</a:t>
                          </a:r>
                          <a:endParaRPr lang="ko-KR" altLang="en-US" sz="1200" b="0" i="0" dirty="0"/>
                        </a:p>
                        <a:p>
                          <a:pPr algn="just" latinLnBrk="1"/>
                          <a:endParaRPr lang="ko-KR" altLang="en-US" sz="1200" b="0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ko-KR" altLang="en-US" sz="1200" b="0" i="0" dirty="0"/>
                            <a:t>수동 </a:t>
                          </a:r>
                          <a:r>
                            <a:rPr lang="en" altLang="ko-KR" sz="1200" b="0" i="0" dirty="0"/>
                            <a:t>Position </a:t>
                          </a:r>
                          <a:r>
                            <a:rPr lang="ko-KR" altLang="en-US" sz="1200" b="0" i="0" dirty="0"/>
                            <a:t>모드에서 스틱 </a:t>
                          </a:r>
                          <a:r>
                            <a:rPr lang="en-US" altLang="ko-KR" sz="1200" b="0" i="0" dirty="0"/>
                            <a:t>100%</a:t>
                          </a:r>
                          <a:r>
                            <a:rPr lang="ko-KR" altLang="en-US" sz="1200" b="0" i="0" dirty="0" err="1"/>
                            <a:t>에</a:t>
                          </a:r>
                          <a:r>
                            <a:rPr lang="ko-KR" altLang="en-US" sz="1200" b="0" i="0" dirty="0"/>
                            <a:t> 대응하는 목표 속도</a:t>
                          </a:r>
                          <a:r>
                            <a:rPr lang="en-US" altLang="ko-KR" sz="1200" b="0" i="0" dirty="0"/>
                            <a:t>(“</a:t>
                          </a:r>
                          <a:r>
                            <a:rPr lang="ko-KR" altLang="en-US" sz="1200" b="0" i="0" dirty="0"/>
                            <a:t>조작 감도”</a:t>
                          </a:r>
                          <a:r>
                            <a:rPr lang="en-US" altLang="ko-KR" sz="1200" b="0" i="0" dirty="0"/>
                            <a:t>). </a:t>
                          </a:r>
                          <a:r>
                            <a:rPr lang="ko-KR" altLang="en-US" sz="1200" b="0" i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*</a:t>
                          </a:r>
                          <a:r>
                            <a:rPr lang="en-US" altLang="ko-KR" sz="1200" b="0" i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_</a:t>
                          </a:r>
                          <a:r>
                            <a:rPr lang="en" altLang="ko-KR" sz="1200" b="0" i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VEL_MAX</a:t>
                          </a:r>
                          <a:r>
                            <a:rPr lang="ko-KR" altLang="en-US" sz="1200" b="0" i="0" dirty="0"/>
                            <a:t>와 구분</a:t>
                          </a:r>
                          <a:r>
                            <a:rPr lang="en-US" altLang="ko-KR" sz="1200" b="0" i="0" dirty="0"/>
                            <a:t>! (</a:t>
                          </a:r>
                          <a:r>
                            <a:rPr lang="en" altLang="ko-KR" sz="1200" b="0" i="0" dirty="0"/>
                            <a:t>MAX=</a:t>
                          </a:r>
                          <a:r>
                            <a:rPr lang="ko-KR" altLang="en-US" sz="1200" b="0" i="0" dirty="0" err="1"/>
                            <a:t>하드캡</a:t>
                          </a:r>
                          <a:r>
                            <a:rPr lang="en-US" altLang="ko-KR" sz="1200" b="0" i="0" dirty="0"/>
                            <a:t>, </a:t>
                          </a:r>
                          <a:r>
                            <a:rPr lang="en" altLang="ko-KR" sz="1200" b="0" i="0" dirty="0"/>
                            <a:t>MANUAL/CRUISE=</a:t>
                          </a:r>
                          <a:r>
                            <a:rPr lang="ko-KR" altLang="en-US" sz="1200" b="0" i="0" dirty="0"/>
                            <a:t>선호속도</a:t>
                          </a:r>
                          <a:r>
                            <a:rPr lang="en-US" altLang="ko-KR" sz="1200" b="0" i="0" dirty="0"/>
                            <a:t>)</a:t>
                          </a:r>
                          <a:endParaRPr lang="ko-KR" altLang="en-US" sz="1200" b="0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endParaRPr lang="ko-KR" altLang="en-US" sz="1200" b="0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1650705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4243937C-7CDC-8FAD-3DDA-57D8222E8879}"/>
              </a:ext>
            </a:extLst>
          </p:cNvPr>
          <p:cNvSpPr txBox="1"/>
          <p:nvPr/>
        </p:nvSpPr>
        <p:spPr>
          <a:xfrm>
            <a:off x="9081448" y="1644688"/>
            <a:ext cx="16546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P</a:t>
            </a:r>
            <a:r>
              <a:rPr kumimoji="1" lang="ko-KR" altLang="en-US" dirty="0"/>
              <a:t>제어</a:t>
            </a:r>
            <a:endParaRPr kumimoji="1" lang="en-US" altLang="ko-KR" dirty="0"/>
          </a:p>
          <a:p>
            <a:r>
              <a:rPr kumimoji="1" lang="en-US" altLang="ko-KR" dirty="0" err="1"/>
              <a:t>v_sp</a:t>
            </a:r>
            <a:r>
              <a:rPr kumimoji="1" lang="en-US" altLang="ko-KR" dirty="0"/>
              <a:t> = K_P*</a:t>
            </a:r>
            <a:r>
              <a:rPr lang="el-GR" altLang="ko-KR" dirty="0"/>
              <a:t>Δ</a:t>
            </a:r>
            <a:r>
              <a:rPr lang="en" altLang="ko-KR" dirty="0"/>
              <a:t>r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55070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D5134E2-0551-8D73-EBA0-1DE3865AC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ko-KR" sz="5400"/>
              <a:t>Fixed Wing</a:t>
            </a:r>
            <a:endParaRPr kumimoji="1" lang="ko-KR" altLang="en-US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071F1762-84CF-047E-3AFE-FC9FACA78B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5154692"/>
              </p:ext>
            </p:extLst>
          </p:nvPr>
        </p:nvGraphicFramePr>
        <p:xfrm>
          <a:off x="838200" y="2356222"/>
          <a:ext cx="10515601" cy="3692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8078">
                  <a:extLst>
                    <a:ext uri="{9D8B030D-6E8A-4147-A177-3AD203B41FA5}">
                      <a16:colId xmlns:a16="http://schemas.microsoft.com/office/drawing/2014/main" val="2501404128"/>
                    </a:ext>
                  </a:extLst>
                </a:gridCol>
                <a:gridCol w="3582323">
                  <a:extLst>
                    <a:ext uri="{9D8B030D-6E8A-4147-A177-3AD203B41FA5}">
                      <a16:colId xmlns:a16="http://schemas.microsoft.com/office/drawing/2014/main" val="411342552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26549114"/>
                    </a:ext>
                  </a:extLst>
                </a:gridCol>
              </a:tblGrid>
              <a:tr h="6108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700"/>
                        <a:t>Multicopter</a:t>
                      </a:r>
                      <a:endParaRPr lang="ko-KR" altLang="en-US" sz="2700"/>
                    </a:p>
                  </a:txBody>
                  <a:tcPr marL="138820" marR="138820" marT="69410" marB="6941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700"/>
                        <a:t>Fixed wing</a:t>
                      </a:r>
                      <a:endParaRPr lang="ko-KR" altLang="en-US" sz="2700"/>
                    </a:p>
                  </a:txBody>
                  <a:tcPr marL="138820" marR="138820" marT="69410" marB="6941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700"/>
                        <a:t>공통부분</a:t>
                      </a:r>
                    </a:p>
                  </a:txBody>
                  <a:tcPr marL="138820" marR="138820" marT="69410" marB="69410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3756135"/>
                  </a:ext>
                </a:extLst>
              </a:tr>
              <a:tr h="102726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700"/>
                        <a:t>Position(</a:t>
                      </a:r>
                      <a:r>
                        <a:rPr lang="ko-KR" altLang="en-US" sz="2700"/>
                        <a:t>위치 제어</a:t>
                      </a:r>
                      <a:r>
                        <a:rPr lang="en-US" altLang="ko-KR" sz="2700"/>
                        <a:t>)</a:t>
                      </a:r>
                      <a:endParaRPr lang="ko-KR" altLang="en-US" sz="2700"/>
                    </a:p>
                  </a:txBody>
                  <a:tcPr marL="138820" marR="138820" marT="69410" marB="6941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700"/>
                        <a:t>L1 Guidance(</a:t>
                      </a:r>
                      <a:r>
                        <a:rPr lang="ko-KR" altLang="en-US" sz="2700"/>
                        <a:t>항로 제어</a:t>
                      </a:r>
                      <a:r>
                        <a:rPr lang="en-US" altLang="ko-KR" sz="2700"/>
                        <a:t>)</a:t>
                      </a:r>
                      <a:endParaRPr lang="ko-KR" altLang="en-US" sz="2700"/>
                    </a:p>
                  </a:txBody>
                  <a:tcPr marL="138820" marR="138820" marT="69410" marB="6941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700"/>
                        <a:t>Waypoint/</a:t>
                      </a:r>
                      <a:r>
                        <a:rPr lang="ko-KR" altLang="en-US" sz="2700"/>
                        <a:t>경로 추종</a:t>
                      </a:r>
                    </a:p>
                  </a:txBody>
                  <a:tcPr marL="138820" marR="138820" marT="69410" marB="69410"/>
                </a:tc>
                <a:extLst>
                  <a:ext uri="{0D108BD9-81ED-4DB2-BD59-A6C34878D82A}">
                    <a16:rowId xmlns:a16="http://schemas.microsoft.com/office/drawing/2014/main" val="186806311"/>
                  </a:ext>
                </a:extLst>
              </a:tr>
              <a:tr h="102726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700"/>
                        <a:t>Velocity(</a:t>
                      </a:r>
                      <a:r>
                        <a:rPr lang="ko-KR" altLang="en-US" sz="2700"/>
                        <a:t>속도 제어</a:t>
                      </a:r>
                      <a:r>
                        <a:rPr lang="en-US" altLang="ko-KR" sz="2700"/>
                        <a:t>)</a:t>
                      </a:r>
                      <a:endParaRPr lang="ko-KR" altLang="en-US" sz="2700"/>
                    </a:p>
                  </a:txBody>
                  <a:tcPr marL="138820" marR="138820" marT="69410" marB="6941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700"/>
                        <a:t>TECS (Total Energy Control)</a:t>
                      </a:r>
                      <a:endParaRPr lang="ko-KR" altLang="en-US" sz="2700"/>
                    </a:p>
                  </a:txBody>
                  <a:tcPr marL="138820" marR="138820" marT="69410" marB="6941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700"/>
                        <a:t>속도 및 고도 제어</a:t>
                      </a:r>
                    </a:p>
                  </a:txBody>
                  <a:tcPr marL="138820" marR="138820" marT="69410" marB="69410"/>
                </a:tc>
                <a:extLst>
                  <a:ext uri="{0D108BD9-81ED-4DB2-BD59-A6C34878D82A}">
                    <a16:rowId xmlns:a16="http://schemas.microsoft.com/office/drawing/2014/main" val="514410943"/>
                  </a:ext>
                </a:extLst>
              </a:tr>
              <a:tr h="102726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700"/>
                        <a:t>Attitude/Rate</a:t>
                      </a:r>
                      <a:endParaRPr lang="ko-KR" altLang="en-US" sz="2700"/>
                    </a:p>
                  </a:txBody>
                  <a:tcPr marL="138820" marR="138820" marT="69410" marB="6941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700"/>
                        <a:t>Attitude/Rate</a:t>
                      </a:r>
                      <a:endParaRPr lang="ko-KR" altLang="en-US" sz="2700"/>
                    </a:p>
                  </a:txBody>
                  <a:tcPr marL="138820" marR="138820" marT="69410" marB="6941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700"/>
                        <a:t>Roll, Pitch, Yaw </a:t>
                      </a:r>
                      <a:r>
                        <a:rPr lang="ko-KR" altLang="en-US" sz="2700"/>
                        <a:t>제어</a:t>
                      </a:r>
                      <a:r>
                        <a:rPr lang="en-US" altLang="ko-KR" sz="2700"/>
                        <a:t>(</a:t>
                      </a:r>
                      <a:r>
                        <a:rPr lang="ko-KR" altLang="en-US" sz="2700"/>
                        <a:t>자세 안정화</a:t>
                      </a:r>
                      <a:r>
                        <a:rPr lang="en-US" altLang="ko-KR" sz="2700"/>
                        <a:t>)</a:t>
                      </a:r>
                      <a:endParaRPr lang="ko-KR" altLang="en-US" sz="2700"/>
                    </a:p>
                  </a:txBody>
                  <a:tcPr marL="138820" marR="138820" marT="69410" marB="69410"/>
                </a:tc>
                <a:extLst>
                  <a:ext uri="{0D108BD9-81ED-4DB2-BD59-A6C34878D82A}">
                    <a16:rowId xmlns:a16="http://schemas.microsoft.com/office/drawing/2014/main" val="13591636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7945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B9BFF1-2736-06C2-CE49-747C6CCB6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E81159C-8C73-B503-B166-E4A2AB7D2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ko-KR" sz="5400"/>
              <a:t>Fixed Wing</a:t>
            </a:r>
            <a:endParaRPr kumimoji="1" lang="ko-KR" altLang="en-US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570FA89B-A67A-64F5-EF98-D5EC98FE62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0876498"/>
              </p:ext>
            </p:extLst>
          </p:nvPr>
        </p:nvGraphicFramePr>
        <p:xfrm>
          <a:off x="1443508" y="2228087"/>
          <a:ext cx="9304984" cy="3948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09487">
                  <a:extLst>
                    <a:ext uri="{9D8B030D-6E8A-4147-A177-3AD203B41FA5}">
                      <a16:colId xmlns:a16="http://schemas.microsoft.com/office/drawing/2014/main" val="902128438"/>
                    </a:ext>
                  </a:extLst>
                </a:gridCol>
                <a:gridCol w="3295062">
                  <a:extLst>
                    <a:ext uri="{9D8B030D-6E8A-4147-A177-3AD203B41FA5}">
                      <a16:colId xmlns:a16="http://schemas.microsoft.com/office/drawing/2014/main" val="2501404128"/>
                    </a:ext>
                  </a:extLst>
                </a:gridCol>
                <a:gridCol w="3400435">
                  <a:extLst>
                    <a:ext uri="{9D8B030D-6E8A-4147-A177-3AD203B41FA5}">
                      <a16:colId xmlns:a16="http://schemas.microsoft.com/office/drawing/2014/main" val="4113425523"/>
                    </a:ext>
                  </a:extLst>
                </a:gridCol>
              </a:tblGrid>
              <a:tr h="452476">
                <a:tc>
                  <a:txBody>
                    <a:bodyPr/>
                    <a:lstStyle/>
                    <a:p>
                      <a:pPr latinLnBrk="1"/>
                      <a:endParaRPr lang="ko-KR" altLang="en-US" sz="2000"/>
                    </a:p>
                  </a:txBody>
                  <a:tcPr marL="102835" marR="102835" marT="51418" marB="51418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/>
                        <a:t>Multicopter</a:t>
                      </a:r>
                      <a:endParaRPr lang="ko-KR" altLang="en-US" sz="2000"/>
                    </a:p>
                  </a:txBody>
                  <a:tcPr marL="102835" marR="102835" marT="51418" marB="51418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/>
                        <a:t>Fixed wing</a:t>
                      </a:r>
                      <a:endParaRPr lang="ko-KR" altLang="en-US" sz="2000"/>
                    </a:p>
                  </a:txBody>
                  <a:tcPr marL="102835" marR="102835" marT="51418" marB="51418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3756135"/>
                  </a:ext>
                </a:extLst>
              </a:tr>
              <a:tr h="7609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/>
                        <a:t>추력 방향</a:t>
                      </a:r>
                    </a:p>
                  </a:txBody>
                  <a:tcPr marL="102835" marR="102835" marT="51418" marB="51418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/>
                        <a:t>임의의 방향</a:t>
                      </a:r>
                      <a:r>
                        <a:rPr lang="en-US" altLang="ko-KR" sz="2000"/>
                        <a:t>(</a:t>
                      </a:r>
                      <a:r>
                        <a:rPr lang="ko-KR" altLang="en-US" sz="2000"/>
                        <a:t>수직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수평</a:t>
                      </a:r>
                      <a:r>
                        <a:rPr lang="en-US" altLang="ko-KR" sz="2000"/>
                        <a:t>)</a:t>
                      </a:r>
                      <a:endParaRPr lang="ko-KR" altLang="en-US" sz="2000"/>
                    </a:p>
                  </a:txBody>
                  <a:tcPr marL="102835" marR="102835" marT="51418" marB="51418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/>
                        <a:t>항상 전진 방향 </a:t>
                      </a:r>
                      <a:r>
                        <a:rPr lang="en-US" altLang="ko-KR" sz="2000"/>
                        <a:t>(</a:t>
                      </a:r>
                      <a:r>
                        <a:rPr lang="ko-KR" altLang="en-US" sz="2000"/>
                        <a:t>수평 비행을 중심</a:t>
                      </a:r>
                      <a:r>
                        <a:rPr lang="en-US" altLang="ko-KR" sz="2000"/>
                        <a:t>)</a:t>
                      </a:r>
                      <a:endParaRPr lang="ko-KR" altLang="en-US" sz="2000"/>
                    </a:p>
                  </a:txBody>
                  <a:tcPr marL="102835" marR="102835" marT="51418" marB="51418"/>
                </a:tc>
                <a:extLst>
                  <a:ext uri="{0D108BD9-81ED-4DB2-BD59-A6C34878D82A}">
                    <a16:rowId xmlns:a16="http://schemas.microsoft.com/office/drawing/2014/main" val="186806311"/>
                  </a:ext>
                </a:extLst>
              </a:tr>
              <a:tr h="45247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/>
                        <a:t>속도 제어</a:t>
                      </a:r>
                    </a:p>
                  </a:txBody>
                  <a:tcPr marL="102835" marR="102835" marT="51418" marB="51418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/>
                        <a:t>Throttle</a:t>
                      </a:r>
                      <a:r>
                        <a:rPr lang="ko-KR" altLang="en-US" sz="2000"/>
                        <a:t>로 상승 하강</a:t>
                      </a:r>
                    </a:p>
                  </a:txBody>
                  <a:tcPr marL="102835" marR="102835" marT="51418" marB="51418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/>
                        <a:t>Pitch &amp; throttle</a:t>
                      </a:r>
                      <a:endParaRPr lang="ko-KR" altLang="en-US" sz="2000"/>
                    </a:p>
                  </a:txBody>
                  <a:tcPr marL="102835" marR="102835" marT="51418" marB="51418"/>
                </a:tc>
                <a:extLst>
                  <a:ext uri="{0D108BD9-81ED-4DB2-BD59-A6C34878D82A}">
                    <a16:rowId xmlns:a16="http://schemas.microsoft.com/office/drawing/2014/main" val="514410943"/>
                  </a:ext>
                </a:extLst>
              </a:tr>
              <a:tr h="7609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/>
                        <a:t>고도 제어</a:t>
                      </a:r>
                    </a:p>
                  </a:txBody>
                  <a:tcPr marL="102835" marR="102835" marT="51418" marB="51418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/>
                        <a:t>Thrust vector</a:t>
                      </a:r>
                      <a:r>
                        <a:rPr lang="ko-KR" altLang="en-US" sz="2000"/>
                        <a:t>로 직접 제어</a:t>
                      </a:r>
                    </a:p>
                  </a:txBody>
                  <a:tcPr marL="102835" marR="102835" marT="51418" marB="51418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/>
                        <a:t>Pitch</a:t>
                      </a:r>
                      <a:r>
                        <a:rPr lang="ko-KR" altLang="en-US" sz="2000"/>
                        <a:t>로 고도</a:t>
                      </a:r>
                      <a:r>
                        <a:rPr lang="en-US" altLang="ko-KR" sz="2000"/>
                        <a:t>, throttle</a:t>
                      </a:r>
                      <a:r>
                        <a:rPr lang="ko-KR" altLang="en-US" sz="2000"/>
                        <a:t>로 속도 제어</a:t>
                      </a:r>
                    </a:p>
                  </a:txBody>
                  <a:tcPr marL="102835" marR="102835" marT="51418" marB="51418"/>
                </a:tc>
                <a:extLst>
                  <a:ext uri="{0D108BD9-81ED-4DB2-BD59-A6C34878D82A}">
                    <a16:rowId xmlns:a16="http://schemas.microsoft.com/office/drawing/2014/main" val="1359163699"/>
                  </a:ext>
                </a:extLst>
              </a:tr>
              <a:tr h="7609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/>
                        <a:t>회전 제어</a:t>
                      </a:r>
                    </a:p>
                  </a:txBody>
                  <a:tcPr marL="102835" marR="102835" marT="51418" marB="51418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/>
                        <a:t>각 모터의 속도 차이</a:t>
                      </a:r>
                    </a:p>
                  </a:txBody>
                  <a:tcPr marL="102835" marR="102835" marT="51418" marB="51418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/>
                        <a:t>조종면 </a:t>
                      </a:r>
                      <a:r>
                        <a:rPr lang="en-US" altLang="ko-KR" sz="2000"/>
                        <a:t>(elevator, aileron, rudder)</a:t>
                      </a:r>
                      <a:endParaRPr lang="ko-KR" altLang="en-US" sz="2000"/>
                    </a:p>
                  </a:txBody>
                  <a:tcPr marL="102835" marR="102835" marT="51418" marB="51418"/>
                </a:tc>
                <a:extLst>
                  <a:ext uri="{0D108BD9-81ED-4DB2-BD59-A6C34878D82A}">
                    <a16:rowId xmlns:a16="http://schemas.microsoft.com/office/drawing/2014/main" val="3702007129"/>
                  </a:ext>
                </a:extLst>
              </a:tr>
              <a:tr h="760982"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2000"/>
                        <a:t>멀티콥터는 힘을 직접 쓰지만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고정익은 양력과 추진력을 조합해서 사용한다</a:t>
                      </a:r>
                      <a:r>
                        <a:rPr lang="en-US" altLang="ko-KR" sz="2000"/>
                        <a:t>.</a:t>
                      </a:r>
                    </a:p>
                    <a:p>
                      <a:pPr latinLnBrk="1"/>
                      <a:r>
                        <a:rPr lang="ko-KR" altLang="en-US" sz="2000"/>
                        <a:t>이로 인해 에너지 균형 제어기로 사용하는 것이다</a:t>
                      </a:r>
                      <a:r>
                        <a:rPr lang="en-US" altLang="ko-KR" sz="2000"/>
                        <a:t>.</a:t>
                      </a:r>
                      <a:endParaRPr lang="ko-KR" altLang="en-US" sz="2000"/>
                    </a:p>
                  </a:txBody>
                  <a:tcPr marL="102835" marR="102835" marT="51418" marB="51418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2185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2352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46AEC6-FC7B-0275-0CC1-A14A83F39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225A3BD-A31B-76FF-FD52-CDD099C63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/>
            <a:r>
              <a:rPr kumimoji="1" lang="en-US" altLang="ko-KR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VTOL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B46433-ACA9-B57B-0265-DE923772C6DF}"/>
              </a:ext>
            </a:extLst>
          </p:cNvPr>
          <p:cNvSpPr txBox="1"/>
          <p:nvPr/>
        </p:nvSpPr>
        <p:spPr>
          <a:xfrm>
            <a:off x="638881" y="1809541"/>
            <a:ext cx="10909643" cy="687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>
              <a:lnSpc>
                <a:spcPct val="90000"/>
              </a:lnSpc>
              <a:spcBef>
                <a:spcPts val="1000"/>
              </a:spcBef>
            </a:pPr>
            <a:r>
              <a:rPr kumimoji="1" lang="ko-KR" alt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전환 시 얼마나 빨리</a:t>
            </a:r>
            <a:r>
              <a:rPr kumimoji="1" lang="en-US" altLang="ko-KR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kumimoji="1" lang="ko-KR" alt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어떤 비율로 제어 신호를 섞을지가</a:t>
            </a:r>
            <a:r>
              <a:rPr kumimoji="1" lang="en-US" altLang="ko-KR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1" lang="ko-KR" alt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중요하다</a:t>
            </a:r>
            <a:r>
              <a:rPr kumimoji="1" lang="en-US" altLang="ko-KR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C880C101-BE2C-4616-4D5C-E158D60CF0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6282134"/>
              </p:ext>
            </p:extLst>
          </p:nvPr>
        </p:nvGraphicFramePr>
        <p:xfrm>
          <a:off x="760719" y="2633472"/>
          <a:ext cx="10667515" cy="35863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38196">
                  <a:extLst>
                    <a:ext uri="{9D8B030D-6E8A-4147-A177-3AD203B41FA5}">
                      <a16:colId xmlns:a16="http://schemas.microsoft.com/office/drawing/2014/main" val="309377804"/>
                    </a:ext>
                  </a:extLst>
                </a:gridCol>
                <a:gridCol w="1904840">
                  <a:extLst>
                    <a:ext uri="{9D8B030D-6E8A-4147-A177-3AD203B41FA5}">
                      <a16:colId xmlns:a16="http://schemas.microsoft.com/office/drawing/2014/main" val="1556136931"/>
                    </a:ext>
                  </a:extLst>
                </a:gridCol>
                <a:gridCol w="3262141">
                  <a:extLst>
                    <a:ext uri="{9D8B030D-6E8A-4147-A177-3AD203B41FA5}">
                      <a16:colId xmlns:a16="http://schemas.microsoft.com/office/drawing/2014/main" val="2636476821"/>
                    </a:ext>
                  </a:extLst>
                </a:gridCol>
                <a:gridCol w="3562338">
                  <a:extLst>
                    <a:ext uri="{9D8B030D-6E8A-4147-A177-3AD203B41FA5}">
                      <a16:colId xmlns:a16="http://schemas.microsoft.com/office/drawing/2014/main" val="3603081501"/>
                    </a:ext>
                  </a:extLst>
                </a:gridCol>
              </a:tblGrid>
              <a:tr h="60101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2600"/>
                        <a:t>Mode</a:t>
                      </a:r>
                      <a:endParaRPr lang="ko-KR" altLang="en-US" sz="2600"/>
                    </a:p>
                  </a:txBody>
                  <a:tcPr marL="147789" marR="147789" marT="73895" marB="7389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2600"/>
                        <a:t>제어 구조</a:t>
                      </a:r>
                    </a:p>
                  </a:txBody>
                  <a:tcPr marL="147789" marR="147789" marT="73895" marB="7389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2600"/>
                        <a:t>사용 제어기</a:t>
                      </a:r>
                    </a:p>
                  </a:txBody>
                  <a:tcPr marL="147789" marR="147789" marT="73895" marB="7389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2600"/>
                        <a:t>주 제어대상</a:t>
                      </a:r>
                    </a:p>
                  </a:txBody>
                  <a:tcPr marL="147789" marR="147789" marT="73895" marB="73895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748751"/>
                  </a:ext>
                </a:extLst>
              </a:tr>
              <a:tr h="995115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2600"/>
                        <a:t>MC</a:t>
                      </a:r>
                      <a:r>
                        <a:rPr lang="ko-KR" altLang="en-US" sz="2600"/>
                        <a:t>모드</a:t>
                      </a:r>
                    </a:p>
                  </a:txBody>
                  <a:tcPr marL="147789" marR="147789" marT="73895" marB="7389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2600"/>
                        <a:t>멀티콥터</a:t>
                      </a:r>
                    </a:p>
                  </a:txBody>
                  <a:tcPr marL="147789" marR="147789" marT="73895" marB="73895"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2600"/>
                        <a:t>Multicopter Controller</a:t>
                      </a:r>
                      <a:endParaRPr lang="ko-KR" altLang="en-US" sz="2600"/>
                    </a:p>
                  </a:txBody>
                  <a:tcPr marL="147789" marR="147789" marT="73895" marB="73895"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2600"/>
                        <a:t>모터</a:t>
                      </a:r>
                      <a:r>
                        <a:rPr lang="en-US" altLang="ko-KR" sz="2600"/>
                        <a:t>(Thrust, Torque)</a:t>
                      </a:r>
                      <a:endParaRPr lang="ko-KR" altLang="en-US" sz="2600"/>
                    </a:p>
                  </a:txBody>
                  <a:tcPr marL="147789" marR="147789" marT="73895" marB="73895"/>
                </a:tc>
                <a:extLst>
                  <a:ext uri="{0D108BD9-81ED-4DB2-BD59-A6C34878D82A}">
                    <a16:rowId xmlns:a16="http://schemas.microsoft.com/office/drawing/2014/main" val="993090731"/>
                  </a:ext>
                </a:extLst>
              </a:tr>
              <a:tr h="995115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2600"/>
                        <a:t>FW</a:t>
                      </a:r>
                      <a:r>
                        <a:rPr lang="ko-KR" altLang="en-US" sz="2600"/>
                        <a:t>모드</a:t>
                      </a:r>
                    </a:p>
                  </a:txBody>
                  <a:tcPr marL="147789" marR="147789" marT="73895" marB="7389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2600"/>
                        <a:t>고정익</a:t>
                      </a:r>
                    </a:p>
                  </a:txBody>
                  <a:tcPr marL="147789" marR="147789" marT="73895" marB="73895"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2600"/>
                        <a:t>Fixed-Wing</a:t>
                      </a:r>
                      <a:r>
                        <a:rPr lang="ko-KR" altLang="en-US" sz="2600"/>
                        <a:t> </a:t>
                      </a:r>
                      <a:r>
                        <a:rPr lang="en-US" altLang="ko-KR" sz="2600"/>
                        <a:t>Controller</a:t>
                      </a:r>
                      <a:endParaRPr lang="ko-KR" altLang="en-US" sz="2600"/>
                    </a:p>
                  </a:txBody>
                  <a:tcPr marL="147789" marR="147789" marT="73895" marB="73895"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2600"/>
                        <a:t>조종면</a:t>
                      </a:r>
                      <a:r>
                        <a:rPr lang="en-US" altLang="ko-KR" sz="2600"/>
                        <a:t>, </a:t>
                      </a:r>
                      <a:r>
                        <a:rPr lang="ko-KR" altLang="en-US" sz="2600"/>
                        <a:t>추진기</a:t>
                      </a:r>
                    </a:p>
                  </a:txBody>
                  <a:tcPr marL="147789" marR="147789" marT="73895" marB="73895"/>
                </a:tc>
                <a:extLst>
                  <a:ext uri="{0D108BD9-81ED-4DB2-BD59-A6C34878D82A}">
                    <a16:rowId xmlns:a16="http://schemas.microsoft.com/office/drawing/2014/main" val="1381104232"/>
                  </a:ext>
                </a:extLst>
              </a:tr>
              <a:tr h="995115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2600"/>
                        <a:t>Transition</a:t>
                      </a:r>
                      <a:endParaRPr lang="ko-KR" altLang="en-US" sz="2600"/>
                    </a:p>
                  </a:txBody>
                  <a:tcPr marL="147789" marR="147789" marT="73895" marB="7389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2600"/>
                        <a:t>혼합구조</a:t>
                      </a:r>
                    </a:p>
                  </a:txBody>
                  <a:tcPr marL="147789" marR="147789" marT="73895" marB="73895"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2600"/>
                        <a:t>VTOL Controller</a:t>
                      </a:r>
                    </a:p>
                    <a:p>
                      <a:pPr algn="just" latinLnBrk="1"/>
                      <a:r>
                        <a:rPr lang="en-US" altLang="ko-KR" sz="2600"/>
                        <a:t>(MC+FW blending)</a:t>
                      </a:r>
                      <a:endParaRPr lang="ko-KR" altLang="en-US" sz="2600"/>
                    </a:p>
                  </a:txBody>
                  <a:tcPr marL="147789" marR="147789" marT="73895" marB="73895"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2600"/>
                        <a:t>모터</a:t>
                      </a:r>
                      <a:r>
                        <a:rPr lang="en-US" altLang="ko-KR" sz="2600"/>
                        <a:t>&amp;</a:t>
                      </a:r>
                      <a:r>
                        <a:rPr lang="ko-KR" altLang="en-US" sz="2600"/>
                        <a:t>조종면</a:t>
                      </a:r>
                    </a:p>
                  </a:txBody>
                  <a:tcPr marL="147789" marR="147789" marT="73895" marB="73895"/>
                </a:tc>
                <a:extLst>
                  <a:ext uri="{0D108BD9-81ED-4DB2-BD59-A6C34878D82A}">
                    <a16:rowId xmlns:a16="http://schemas.microsoft.com/office/drawing/2014/main" val="13419380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93924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0E1EA5A-AAA1-82B0-380C-25C6F0FAF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ko-KR" sz="5400"/>
              <a:t>VTOL</a:t>
            </a:r>
            <a:endParaRPr kumimoji="1" lang="ko-KR" altLang="en-US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796E74CA-4EBD-B3A6-22FE-6976887AFD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1889779"/>
              </p:ext>
            </p:extLst>
          </p:nvPr>
        </p:nvGraphicFramePr>
        <p:xfrm>
          <a:off x="1311985" y="2228087"/>
          <a:ext cx="9568031" cy="39488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66561">
                  <a:extLst>
                    <a:ext uri="{9D8B030D-6E8A-4147-A177-3AD203B41FA5}">
                      <a16:colId xmlns:a16="http://schemas.microsoft.com/office/drawing/2014/main" val="2010687656"/>
                    </a:ext>
                  </a:extLst>
                </a:gridCol>
                <a:gridCol w="3158307">
                  <a:extLst>
                    <a:ext uri="{9D8B030D-6E8A-4147-A177-3AD203B41FA5}">
                      <a16:colId xmlns:a16="http://schemas.microsoft.com/office/drawing/2014/main" val="3362210667"/>
                    </a:ext>
                  </a:extLst>
                </a:gridCol>
                <a:gridCol w="3543163">
                  <a:extLst>
                    <a:ext uri="{9D8B030D-6E8A-4147-A177-3AD203B41FA5}">
                      <a16:colId xmlns:a16="http://schemas.microsoft.com/office/drawing/2014/main" val="3149476507"/>
                    </a:ext>
                  </a:extLst>
                </a:gridCol>
              </a:tblGrid>
              <a:tr h="4449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800" b="0">
                          <a:latin typeface="+mn-lt"/>
                        </a:rPr>
                        <a:t>파라미터</a:t>
                      </a:r>
                    </a:p>
                  </a:txBody>
                  <a:tcPr marL="119181" marR="119181" marT="59591" marB="59591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800" b="0">
                          <a:latin typeface="+mn-lt"/>
                        </a:rPr>
                        <a:t>의미</a:t>
                      </a:r>
                    </a:p>
                  </a:txBody>
                  <a:tcPr marL="119181" marR="119181" marT="59591" marB="59591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800" b="0">
                          <a:latin typeface="+mn-lt"/>
                        </a:rPr>
                        <a:t>역할</a:t>
                      </a:r>
                    </a:p>
                  </a:txBody>
                  <a:tcPr marL="119181" marR="119181" marT="59591" marB="59591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2178363"/>
                  </a:ext>
                </a:extLst>
              </a:tr>
              <a:tr h="7230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800" b="0">
                          <a:latin typeface="+mn-lt"/>
                        </a:rPr>
                        <a:t>VT_TRANS_MIN_TM</a:t>
                      </a:r>
                    </a:p>
                  </a:txBody>
                  <a:tcPr marL="119181" marR="119181" marT="59591" marB="595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800" b="0">
                          <a:latin typeface="+mn-lt"/>
                        </a:rPr>
                        <a:t>최소 전환 시간 </a:t>
                      </a:r>
                      <a:r>
                        <a:rPr lang="en-US" altLang="ko-KR" sz="1800" b="0">
                          <a:latin typeface="+mn-lt"/>
                        </a:rPr>
                        <a:t>(</a:t>
                      </a:r>
                      <a:r>
                        <a:rPr lang="ko-KR" altLang="en-US" sz="1800" b="0">
                          <a:latin typeface="+mn-lt"/>
                        </a:rPr>
                        <a:t>초</a:t>
                      </a:r>
                      <a:r>
                        <a:rPr lang="en-US" altLang="ko-KR" sz="1800" b="0">
                          <a:latin typeface="+mn-lt"/>
                        </a:rPr>
                        <a:t>)</a:t>
                      </a:r>
                    </a:p>
                  </a:txBody>
                  <a:tcPr marL="119181" marR="119181" marT="59591" marB="595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800" b="0">
                          <a:latin typeface="+mn-lt"/>
                        </a:rPr>
                        <a:t>전환이 너무 빠르게 일어나지 않게 제한</a:t>
                      </a:r>
                    </a:p>
                  </a:txBody>
                  <a:tcPr marL="119181" marR="119181" marT="59591" marB="59591" anchor="ctr"/>
                </a:tc>
                <a:extLst>
                  <a:ext uri="{0D108BD9-81ED-4DB2-BD59-A6C34878D82A}">
                    <a16:rowId xmlns:a16="http://schemas.microsoft.com/office/drawing/2014/main" val="4212110359"/>
                  </a:ext>
                </a:extLst>
              </a:tr>
              <a:tr h="7230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800" b="0">
                          <a:latin typeface="+mn-lt"/>
                        </a:rPr>
                        <a:t>VT_TRANS_P2_DUR</a:t>
                      </a:r>
                    </a:p>
                  </a:txBody>
                  <a:tcPr marL="119181" marR="119181" marT="59591" marB="595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800" b="0">
                          <a:latin typeface="+mn-lt"/>
                        </a:rPr>
                        <a:t>FW → MC </a:t>
                      </a:r>
                      <a:r>
                        <a:rPr lang="ko-KR" altLang="en-US" sz="1800" b="0">
                          <a:latin typeface="+mn-lt"/>
                        </a:rPr>
                        <a:t>전환 시간</a:t>
                      </a:r>
                    </a:p>
                  </a:txBody>
                  <a:tcPr marL="119181" marR="119181" marT="59591" marB="595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800" b="0">
                          <a:latin typeface="+mn-lt"/>
                        </a:rPr>
                        <a:t>순항 → 수직 착륙 전환 속도 조절</a:t>
                      </a:r>
                    </a:p>
                  </a:txBody>
                  <a:tcPr marL="119181" marR="119181" marT="59591" marB="59591" anchor="ctr"/>
                </a:tc>
                <a:extLst>
                  <a:ext uri="{0D108BD9-81ED-4DB2-BD59-A6C34878D82A}">
                    <a16:rowId xmlns:a16="http://schemas.microsoft.com/office/drawing/2014/main" val="608044391"/>
                  </a:ext>
                </a:extLst>
              </a:tr>
              <a:tr h="4449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800" b="0">
                          <a:latin typeface="+mn-lt"/>
                        </a:rPr>
                        <a:t>VT_TRANS_P1_DUR</a:t>
                      </a:r>
                    </a:p>
                  </a:txBody>
                  <a:tcPr marL="119181" marR="119181" marT="59591" marB="595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800" b="0">
                          <a:latin typeface="+mn-lt"/>
                        </a:rPr>
                        <a:t>MC → FW </a:t>
                      </a:r>
                      <a:r>
                        <a:rPr lang="ko-KR" altLang="en-US" sz="1800" b="0">
                          <a:latin typeface="+mn-lt"/>
                        </a:rPr>
                        <a:t>전환 시간</a:t>
                      </a:r>
                    </a:p>
                  </a:txBody>
                  <a:tcPr marL="119181" marR="119181" marT="59591" marB="595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800" b="0">
                          <a:latin typeface="+mn-lt"/>
                        </a:rPr>
                        <a:t>이륙 후 순항 전환 속도 조절</a:t>
                      </a:r>
                    </a:p>
                  </a:txBody>
                  <a:tcPr marL="119181" marR="119181" marT="59591" marB="59591" anchor="ctr"/>
                </a:tc>
                <a:extLst>
                  <a:ext uri="{0D108BD9-81ED-4DB2-BD59-A6C34878D82A}">
                    <a16:rowId xmlns:a16="http://schemas.microsoft.com/office/drawing/2014/main" val="2274668781"/>
                  </a:ext>
                </a:extLst>
              </a:tr>
              <a:tr h="7230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800" b="0">
                          <a:latin typeface="+mn-lt"/>
                        </a:rPr>
                        <a:t>VT_FW_ALT_ERR</a:t>
                      </a:r>
                    </a:p>
                  </a:txBody>
                  <a:tcPr marL="119181" marR="119181" marT="59591" marB="595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800" b="0">
                          <a:latin typeface="+mn-lt"/>
                        </a:rPr>
                        <a:t>FW </a:t>
                      </a:r>
                      <a:r>
                        <a:rPr lang="ko-KR" altLang="en-US" sz="1800" b="0">
                          <a:latin typeface="+mn-lt"/>
                        </a:rPr>
                        <a:t>모드 진입 시 고도 오차 허용값</a:t>
                      </a:r>
                    </a:p>
                  </a:txBody>
                  <a:tcPr marL="119181" marR="119181" marT="59591" marB="595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800" b="0">
                          <a:latin typeface="+mn-lt"/>
                        </a:rPr>
                        <a:t>전환 중 </a:t>
                      </a:r>
                      <a:r>
                        <a:rPr lang="en" sz="1800" b="0">
                          <a:latin typeface="+mn-lt"/>
                        </a:rPr>
                        <a:t>pitch </a:t>
                      </a:r>
                      <a:r>
                        <a:rPr lang="ko-KR" altLang="en-US" sz="1800" b="0">
                          <a:latin typeface="+mn-lt"/>
                        </a:rPr>
                        <a:t>변동 완화</a:t>
                      </a:r>
                    </a:p>
                  </a:txBody>
                  <a:tcPr marL="119181" marR="119181" marT="59591" marB="59591" anchor="ctr"/>
                </a:tc>
                <a:extLst>
                  <a:ext uri="{0D108BD9-81ED-4DB2-BD59-A6C34878D82A}">
                    <a16:rowId xmlns:a16="http://schemas.microsoft.com/office/drawing/2014/main" val="2523714884"/>
                  </a:ext>
                </a:extLst>
              </a:tr>
              <a:tr h="4449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800" b="0">
                          <a:latin typeface="+mn-lt"/>
                        </a:rPr>
                        <a:t>VT_FW_QC_P</a:t>
                      </a:r>
                    </a:p>
                  </a:txBody>
                  <a:tcPr marL="119181" marR="119181" marT="59591" marB="595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800" b="0">
                          <a:latin typeface="+mn-lt"/>
                        </a:rPr>
                        <a:t>전환 중 </a:t>
                      </a:r>
                      <a:r>
                        <a:rPr lang="en" sz="1800" b="0">
                          <a:latin typeface="+mn-lt"/>
                        </a:rPr>
                        <a:t>pitch </a:t>
                      </a:r>
                      <a:r>
                        <a:rPr lang="ko-KR" altLang="en-US" sz="1800" b="0">
                          <a:latin typeface="+mn-lt"/>
                        </a:rPr>
                        <a:t>제어 </a:t>
                      </a:r>
                      <a:r>
                        <a:rPr lang="en" sz="1800" b="0">
                          <a:latin typeface="+mn-lt"/>
                        </a:rPr>
                        <a:t>P</a:t>
                      </a:r>
                      <a:r>
                        <a:rPr lang="ko-KR" altLang="en-US" sz="1800" b="0">
                          <a:latin typeface="+mn-lt"/>
                        </a:rPr>
                        <a:t>게인</a:t>
                      </a:r>
                    </a:p>
                  </a:txBody>
                  <a:tcPr marL="119181" marR="119181" marT="59591" marB="595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800" b="0">
                          <a:latin typeface="+mn-lt"/>
                        </a:rPr>
                        <a:t>전환 시 </a:t>
                      </a:r>
                      <a:r>
                        <a:rPr lang="en" sz="1800" b="0">
                          <a:latin typeface="+mn-lt"/>
                        </a:rPr>
                        <a:t>pitch overshoot </a:t>
                      </a:r>
                      <a:r>
                        <a:rPr lang="ko-KR" altLang="en-US" sz="1800" b="0">
                          <a:latin typeface="+mn-lt"/>
                        </a:rPr>
                        <a:t>방지</a:t>
                      </a:r>
                    </a:p>
                  </a:txBody>
                  <a:tcPr marL="119181" marR="119181" marT="59591" marB="59591" anchor="ctr"/>
                </a:tc>
                <a:extLst>
                  <a:ext uri="{0D108BD9-81ED-4DB2-BD59-A6C34878D82A}">
                    <a16:rowId xmlns:a16="http://schemas.microsoft.com/office/drawing/2014/main" val="3090371856"/>
                  </a:ext>
                </a:extLst>
              </a:tr>
              <a:tr h="4449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800" b="0">
                          <a:latin typeface="+mn-lt"/>
                        </a:rPr>
                        <a:t>VT_PSHOVER_ANGLE</a:t>
                      </a:r>
                    </a:p>
                  </a:txBody>
                  <a:tcPr marL="119181" marR="119181" marT="59591" marB="595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800" b="0">
                          <a:latin typeface="+mn-lt"/>
                        </a:rPr>
                        <a:t>hover </a:t>
                      </a:r>
                      <a:r>
                        <a:rPr lang="ko-KR" altLang="en-US" sz="1800" b="0">
                          <a:latin typeface="+mn-lt"/>
                        </a:rPr>
                        <a:t>모드 </a:t>
                      </a:r>
                      <a:r>
                        <a:rPr lang="en" sz="1800" b="0">
                          <a:latin typeface="+mn-lt"/>
                        </a:rPr>
                        <a:t>pitch </a:t>
                      </a:r>
                      <a:r>
                        <a:rPr lang="ko-KR" altLang="en-US" sz="1800" b="0">
                          <a:latin typeface="+mn-lt"/>
                        </a:rPr>
                        <a:t>목표각</a:t>
                      </a:r>
                    </a:p>
                  </a:txBody>
                  <a:tcPr marL="119181" marR="119181" marT="59591" marB="595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800" b="0">
                          <a:latin typeface="+mn-lt"/>
                        </a:rPr>
                        <a:t>hover→fw </a:t>
                      </a:r>
                      <a:r>
                        <a:rPr lang="ko-KR" altLang="en-US" sz="1800" b="0">
                          <a:latin typeface="+mn-lt"/>
                        </a:rPr>
                        <a:t>전환 시 기수각 보정</a:t>
                      </a:r>
                    </a:p>
                  </a:txBody>
                  <a:tcPr marL="119181" marR="119181" marT="59591" marB="59591" anchor="ctr"/>
                </a:tc>
                <a:extLst>
                  <a:ext uri="{0D108BD9-81ED-4DB2-BD59-A6C34878D82A}">
                    <a16:rowId xmlns:a16="http://schemas.microsoft.com/office/drawing/2014/main" val="41275320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63520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FC862E-0465-5081-56C1-05BFB990D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VTOL</a:t>
            </a:r>
            <a:endParaRPr kumimoji="1"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095C1856-D9E3-D73C-DD0C-B5F11ECD86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6155264"/>
              </p:ext>
            </p:extLst>
          </p:nvPr>
        </p:nvGraphicFramePr>
        <p:xfrm>
          <a:off x="838200" y="1409989"/>
          <a:ext cx="10515597" cy="2667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00645775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80388726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7855145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>
                          <a:latin typeface="+mn-lt"/>
                        </a:rPr>
                        <a:t>튜닝 대상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>
                          <a:latin typeface="+mn-lt"/>
                        </a:rPr>
                        <a:t>영향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>
                          <a:latin typeface="+mn-lt"/>
                        </a:rPr>
                        <a:t>권장 조정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903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>
                          <a:latin typeface="+mn-lt"/>
                        </a:rPr>
                        <a:t>VT_TRANS_P1_DUR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>
                          <a:latin typeface="+mn-lt"/>
                        </a:rPr>
                        <a:t>MC→FW </a:t>
                      </a:r>
                      <a:r>
                        <a:rPr lang="ko-KR" altLang="en-US" sz="1400">
                          <a:latin typeface="+mn-lt"/>
                        </a:rPr>
                        <a:t>전환 속도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latin typeface="+mn-lt"/>
                        </a:rPr>
                        <a:t>길게 → 안정적 </a:t>
                      </a:r>
                      <a:r>
                        <a:rPr lang="en-US" altLang="ko-KR" sz="1400">
                          <a:latin typeface="+mn-lt"/>
                        </a:rPr>
                        <a:t>/ </a:t>
                      </a:r>
                      <a:r>
                        <a:rPr lang="ko-KR" altLang="en-US" sz="1400">
                          <a:latin typeface="+mn-lt"/>
                        </a:rPr>
                        <a:t>짧게 → 빠른 전환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8661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>
                          <a:latin typeface="+mn-lt"/>
                        </a:rPr>
                        <a:t>VT_ARSP_BLEND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latin typeface="+mn-lt"/>
                        </a:rPr>
                        <a:t>제어 혼합 범위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latin typeface="+mn-lt"/>
                        </a:rPr>
                        <a:t>좁게 → 급격한 전환 </a:t>
                      </a:r>
                      <a:r>
                        <a:rPr lang="en-US" altLang="ko-KR" sz="1400">
                          <a:latin typeface="+mn-lt"/>
                        </a:rPr>
                        <a:t>/ </a:t>
                      </a:r>
                      <a:r>
                        <a:rPr lang="ko-KR" altLang="en-US" sz="1400">
                          <a:latin typeface="+mn-lt"/>
                        </a:rPr>
                        <a:t>넓게 → 부드러운 전환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0275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>
                          <a:latin typeface="+mn-lt"/>
                        </a:rPr>
                        <a:t>VT_TILT_TRANS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latin typeface="+mn-lt"/>
                        </a:rPr>
                        <a:t>틸트 각도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latin typeface="+mn-lt"/>
                        </a:rPr>
                        <a:t>낮게 → 천천히 회전 </a:t>
                      </a:r>
                      <a:r>
                        <a:rPr lang="en-US" altLang="ko-KR" sz="1400">
                          <a:latin typeface="+mn-lt"/>
                        </a:rPr>
                        <a:t>/ </a:t>
                      </a:r>
                      <a:r>
                        <a:rPr lang="ko-KR" altLang="en-US" sz="1400">
                          <a:latin typeface="+mn-lt"/>
                        </a:rPr>
                        <a:t>높게 → 빠른 회전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878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>
                          <a:latin typeface="+mn-lt"/>
                        </a:rPr>
                        <a:t>VT_IDLE_PWM_MC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>
                          <a:latin typeface="+mn-lt"/>
                        </a:rPr>
                        <a:t>Hover </a:t>
                      </a:r>
                      <a:r>
                        <a:rPr lang="ko-KR" altLang="en-US" sz="1400">
                          <a:latin typeface="+mn-lt"/>
                        </a:rPr>
                        <a:t>시 출력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latin typeface="+mn-lt"/>
                        </a:rPr>
                        <a:t>낮게 → 에너지 절약 </a:t>
                      </a:r>
                      <a:r>
                        <a:rPr lang="en-US" altLang="ko-KR" sz="1400">
                          <a:latin typeface="+mn-lt"/>
                        </a:rPr>
                        <a:t>/ </a:t>
                      </a:r>
                      <a:r>
                        <a:rPr lang="ko-KR" altLang="en-US" sz="1400">
                          <a:latin typeface="+mn-lt"/>
                        </a:rPr>
                        <a:t>너무 낮으면 안정성 저하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4206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>
                          <a:latin typeface="+mn-lt"/>
                        </a:rPr>
                        <a:t>TECS_SPEED_WEIGHT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latin typeface="+mn-lt"/>
                        </a:rPr>
                        <a:t>순항 중 속도</a:t>
                      </a:r>
                      <a:r>
                        <a:rPr lang="en-US" altLang="ko-KR" sz="1400">
                          <a:latin typeface="+mn-lt"/>
                        </a:rPr>
                        <a:t>/</a:t>
                      </a:r>
                      <a:r>
                        <a:rPr lang="ko-KR" altLang="en-US" sz="1400">
                          <a:latin typeface="+mn-lt"/>
                        </a:rPr>
                        <a:t>고도 우선도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>
                          <a:latin typeface="+mn-lt"/>
                        </a:rPr>
                        <a:t>속도 안정 우선 시 ↑ </a:t>
                      </a:r>
                      <a:r>
                        <a:rPr lang="en-US" altLang="ko-KR" sz="1400" dirty="0">
                          <a:latin typeface="+mn-lt"/>
                        </a:rPr>
                        <a:t>/ </a:t>
                      </a:r>
                      <a:r>
                        <a:rPr lang="ko-KR" altLang="en-US" sz="1400" dirty="0">
                          <a:latin typeface="+mn-lt"/>
                        </a:rPr>
                        <a:t>고도 정확도 우선 시 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2280202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8CCF69F-70A8-0775-8EC5-ECE2568EFF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9357195"/>
              </p:ext>
            </p:extLst>
          </p:nvPr>
        </p:nvGraphicFramePr>
        <p:xfrm>
          <a:off x="838200" y="4575704"/>
          <a:ext cx="10515597" cy="1630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64944329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42556495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9142861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>
                          <a:latin typeface="+mn-lt"/>
                        </a:rPr>
                        <a:t>파라미터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>
                          <a:latin typeface="+mn-lt"/>
                        </a:rPr>
                        <a:t>의미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>
                          <a:latin typeface="+mn-lt"/>
                        </a:rPr>
                        <a:t>역할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23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>
                          <a:latin typeface="+mn-lt"/>
                        </a:rPr>
                        <a:t>VT_ARSP_TRANS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>
                          <a:latin typeface="+mn-lt"/>
                        </a:rPr>
                        <a:t>FW </a:t>
                      </a:r>
                      <a:r>
                        <a:rPr lang="ko-KR" altLang="en-US" sz="1400" dirty="0">
                          <a:latin typeface="+mn-lt"/>
                        </a:rPr>
                        <a:t>진입 최소 속도 </a:t>
                      </a:r>
                      <a:r>
                        <a:rPr lang="en-US" altLang="ko-KR" sz="1400" dirty="0">
                          <a:latin typeface="+mn-lt"/>
                        </a:rPr>
                        <a:t>(</a:t>
                      </a:r>
                      <a:r>
                        <a:rPr lang="en" sz="1400" dirty="0">
                          <a:latin typeface="+mn-lt"/>
                        </a:rPr>
                        <a:t>m/s)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latin typeface="+mn-lt"/>
                        </a:rPr>
                        <a:t>충분한 양력 확보 전에는 </a:t>
                      </a:r>
                      <a:r>
                        <a:rPr lang="en" sz="1400">
                          <a:latin typeface="+mn-lt"/>
                        </a:rPr>
                        <a:t>FW </a:t>
                      </a:r>
                      <a:r>
                        <a:rPr lang="ko-KR" altLang="en-US" sz="1400">
                          <a:latin typeface="+mn-lt"/>
                        </a:rPr>
                        <a:t>모드로 전환하지 않음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2948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>
                          <a:latin typeface="+mn-lt"/>
                        </a:rPr>
                        <a:t>VT_ARSP_BLEND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>
                          <a:latin typeface="+mn-lt"/>
                        </a:rPr>
                        <a:t>속도 기반 </a:t>
                      </a:r>
                      <a:r>
                        <a:rPr lang="ko-KR" altLang="en-US" sz="1400" dirty="0" err="1">
                          <a:latin typeface="+mn-lt"/>
                        </a:rPr>
                        <a:t>블렌딩</a:t>
                      </a:r>
                      <a:r>
                        <a:rPr lang="ko-KR" altLang="en-US" sz="1400" dirty="0">
                          <a:latin typeface="+mn-lt"/>
                        </a:rPr>
                        <a:t> 범위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>
                          <a:latin typeface="+mn-lt"/>
                        </a:rPr>
                        <a:t>MC–FW </a:t>
                      </a:r>
                      <a:r>
                        <a:rPr lang="ko-KR" altLang="en-US" sz="1400" dirty="0">
                          <a:latin typeface="+mn-lt"/>
                        </a:rPr>
                        <a:t>제어 혼합되는 속도 구간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7519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>
                          <a:latin typeface="+mn-lt"/>
                        </a:rPr>
                        <a:t>VT_FW_DIFTHR_EN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latin typeface="+mn-lt"/>
                        </a:rPr>
                        <a:t>전환 시 차등 스로틀 허용 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>
                          <a:latin typeface="+mn-lt"/>
                        </a:rPr>
                        <a:t>비대칭 추력 허용 </a:t>
                      </a:r>
                      <a:r>
                        <a:rPr lang="en-US" altLang="ko-KR" sz="1400" dirty="0">
                          <a:latin typeface="+mn-lt"/>
                        </a:rPr>
                        <a:t>(</a:t>
                      </a:r>
                      <a:r>
                        <a:rPr lang="ko-KR" altLang="en-US" sz="1400" dirty="0">
                          <a:latin typeface="+mn-lt"/>
                        </a:rPr>
                        <a:t>고급 튜닝용</a:t>
                      </a:r>
                      <a:r>
                        <a:rPr lang="en-US" altLang="ko-KR" sz="1400" dirty="0">
                          <a:latin typeface="+mn-lt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04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7843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1001</TotalTime>
  <Words>1483</Words>
  <Application>Microsoft Macintosh PowerPoint</Application>
  <PresentationFormat>와이드스크린</PresentationFormat>
  <Paragraphs>277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맑은 고딕</vt:lpstr>
      <vt:lpstr>Arial</vt:lpstr>
      <vt:lpstr>Calibri</vt:lpstr>
      <vt:lpstr>Cambria Math</vt:lpstr>
      <vt:lpstr>Office 테마</vt:lpstr>
      <vt:lpstr>Pixhawk및 PX4개발을 위한 기본 개념 및 파라미터 소개</vt:lpstr>
      <vt:lpstr>목차</vt:lpstr>
      <vt:lpstr>Flight controller (only)</vt:lpstr>
      <vt:lpstr>FC and Companion Computer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Fixed Wing</vt:lpstr>
      <vt:lpstr>Fixed Wing</vt:lpstr>
      <vt:lpstr>VTOL</vt:lpstr>
      <vt:lpstr>VTOL</vt:lpstr>
      <vt:lpstr>VTOL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정한길</dc:creator>
  <cp:lastModifiedBy>정한길</cp:lastModifiedBy>
  <cp:revision>6</cp:revision>
  <dcterms:created xsi:type="dcterms:W3CDTF">2025-10-28T08:19:24Z</dcterms:created>
  <dcterms:modified xsi:type="dcterms:W3CDTF">2025-10-29T13:16:20Z</dcterms:modified>
</cp:coreProperties>
</file>