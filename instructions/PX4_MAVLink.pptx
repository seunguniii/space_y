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7" r:id="rId9"/>
    <p:sldId id="264" r:id="rId10"/>
    <p:sldId id="265" r:id="rId11"/>
    <p:sldId id="269" r:id="rId12"/>
    <p:sldId id="268" r:id="rId13"/>
    <p:sldId id="270" r:id="rId14"/>
    <p:sldId id="271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69" autoAdjust="0"/>
    <p:restoredTop sz="95062" autoAdjust="0"/>
  </p:normalViewPr>
  <p:slideViewPr>
    <p:cSldViewPr snapToGrid="0">
      <p:cViewPr>
        <p:scale>
          <a:sx n="69" d="100"/>
          <a:sy n="69" d="100"/>
        </p:scale>
        <p:origin x="2648" y="1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7932C2-F5F0-4645-A149-E85A6344192F}" type="datetimeFigureOut">
              <a:rPr lang="ko-KR" altLang="en-US" smtClean="0"/>
              <a:t>2025. 11. 12.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38F8A5-ACE4-4355-A8EA-F28FFB11C8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9532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38F8A5-ACE4-4355-A8EA-F28FFB11C8A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0963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895C8C-D9A3-81EB-2F5A-E0205DEF98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B65E22-BE10-1BDD-F0AD-1E82DEE90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3C0620-754E-524E-6804-457DA4298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8A5D-5D8E-4D56-B7A4-148F31C9520D}" type="datetimeFigureOut">
              <a:rPr lang="ko-KR" altLang="en-US" smtClean="0"/>
              <a:t>2025. 11. 12.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CDA847-1F01-BFE7-2C11-1DB77076F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976CD8-0C0A-2284-6DD0-6B348BE0B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726F3-0D9B-4FE2-AFC1-D3EA4C8D4B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492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588E8C-A8CF-CCBE-15EF-BE3630891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F9A4D7-E543-FA25-F994-86C215190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52861A-ADE7-23FA-9361-ECBEF7E39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8A5D-5D8E-4D56-B7A4-148F31C9520D}" type="datetimeFigureOut">
              <a:rPr lang="ko-KR" altLang="en-US" smtClean="0"/>
              <a:t>2025. 11. 12.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CE482C-3074-F3D5-B5B2-7D559D6D9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F2E69B-C130-A615-EB6F-51EA2E379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726F3-0D9B-4FE2-AFC1-D3EA4C8D4B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3042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0241BF-BA55-A0AE-15B0-6B9779FE5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9BAFE5-0A78-FC29-71F1-FDD450564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E764E9-E444-E052-C1C5-43EF9A71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8A5D-5D8E-4D56-B7A4-148F31C9520D}" type="datetimeFigureOut">
              <a:rPr lang="ko-KR" altLang="en-US" smtClean="0"/>
              <a:t>2025. 11. 12.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E206FD-17E0-99C6-4BA5-10AEDFFB2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FC168D-CFA2-6FFB-C7D2-ECE2042CF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726F3-0D9B-4FE2-AFC1-D3EA4C8D4B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090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FDA5D3-4CA5-D8F9-6BCE-808CAA021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1B7D12-9210-51D4-3DBD-1D69379F64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277042E-63C5-2A4C-7A83-9EACF3603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B23D47-CD70-2562-93A8-A3A3CA62B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8A5D-5D8E-4D56-B7A4-148F31C9520D}" type="datetimeFigureOut">
              <a:rPr lang="ko-KR" altLang="en-US" smtClean="0"/>
              <a:t>2025. 11. 12.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C5850D-9D71-293B-168D-5222A5967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67275F-9746-4D97-D402-0C16B1027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726F3-0D9B-4FE2-AFC1-D3EA4C8D4B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46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4C96DD-6768-101F-A606-5C85C0C35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06B083-539D-0736-ACFD-AE72F1A9C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DEBF18-BE92-0E2E-59D5-19117FA411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BBCBB85-9FC1-6B17-8939-79DE532BC6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7B3BBDD-FB4A-E870-41BD-860F65F4E8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079EDC8-191F-5F94-6CE0-05226954F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8A5D-5D8E-4D56-B7A4-148F31C9520D}" type="datetimeFigureOut">
              <a:rPr lang="ko-KR" altLang="en-US" smtClean="0"/>
              <a:t>2025. 11. 12.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ABB9DA-86AF-F296-EC03-443DFB1AE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22C171A-DFCD-26CE-9D76-7DFF14162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726F3-0D9B-4FE2-AFC1-D3EA4C8D4B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5010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D56F65-840B-5531-647D-1EBCDC849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A2EAEA6-B1C7-E4ED-9031-CD2FBC873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8A5D-5D8E-4D56-B7A4-148F31C9520D}" type="datetimeFigureOut">
              <a:rPr lang="ko-KR" altLang="en-US" smtClean="0"/>
              <a:t>2025. 11. 12.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3B35694-E238-7EB7-24F0-21E866431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2DF0F0B-08CF-B38E-15CB-EB7B97545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726F3-0D9B-4FE2-AFC1-D3EA4C8D4B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4539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C6F8DCD-9D46-B652-C56E-C9E5CD92B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8A5D-5D8E-4D56-B7A4-148F31C9520D}" type="datetimeFigureOut">
              <a:rPr lang="ko-KR" altLang="en-US" smtClean="0"/>
              <a:t>2025. 11. 12.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4B5DB5C-DE67-4EC5-839D-1ECDFD3C3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A743C8-6E48-5BE3-B7CD-58DB5AAD0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726F3-0D9B-4FE2-AFC1-D3EA4C8D4B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482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2907AA-495D-BA39-E6CE-F7387CF14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FF730E-EB6B-B4BD-FCB1-FFEBD3721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99D234-6AF8-F31F-D45A-95D167599E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DF51AC-A508-1898-AC89-07963B9B1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8A5D-5D8E-4D56-B7A4-148F31C9520D}" type="datetimeFigureOut">
              <a:rPr lang="ko-KR" altLang="en-US" smtClean="0"/>
              <a:t>2025. 11. 12.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4C0D13-EF19-774C-FAC9-8FC0CFE99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280BD1F-C43E-55A9-F5CA-9B65D7F58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726F3-0D9B-4FE2-AFC1-D3EA4C8D4B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084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142EA7-213D-7C9A-B4A0-DEF2DB2D1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B6DEA19-6314-42F2-88AD-E72A984BD4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E449F02-C862-E1DD-3B24-FA29C7D043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6BE1308-98D2-21BE-3922-494ED9ADD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8A5D-5D8E-4D56-B7A4-148F31C9520D}" type="datetimeFigureOut">
              <a:rPr lang="ko-KR" altLang="en-US" smtClean="0"/>
              <a:t>2025. 11. 12.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386454-A9DC-8CB8-291B-EE1591D38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965AAB-EDF3-3D93-6A3A-94133FE4D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726F3-0D9B-4FE2-AFC1-D3EA4C8D4B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531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664A3E-F174-D40F-53A5-87ADE0F7D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ADCD2F3-D89C-0D68-FEF9-3471159600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EDF17F-79C8-969A-375C-5210AE6FB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8A5D-5D8E-4D56-B7A4-148F31C9520D}" type="datetimeFigureOut">
              <a:rPr lang="ko-KR" altLang="en-US" smtClean="0"/>
              <a:t>2025. 11. 12.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00E567-E321-87A2-37EC-C6CA0206C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11CA0E-5DCC-973D-5F0D-58F6CD506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726F3-0D9B-4FE2-AFC1-D3EA4C8D4B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2833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714A5E8-084D-ACEE-4DF7-7DA03DADDC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2F4BAE-54EA-38B6-ACEA-4B2E442B4D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A8ADA5-DCE1-8F06-D997-F2F65BA21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8A5D-5D8E-4D56-B7A4-148F31C9520D}" type="datetimeFigureOut">
              <a:rPr lang="ko-KR" altLang="en-US" smtClean="0"/>
              <a:t>2025. 11. 12.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83A228-6E12-5818-B0B1-4318D1508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83A335-BFD9-FC99-7C16-E91325A10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726F3-0D9B-4FE2-AFC1-D3EA4C8D4B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6401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D5100B7-FA0B-D771-91D9-413474AEA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8D0628-5D3B-3CFB-4B50-76D91C371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44F747-B9C2-C885-D6FE-AA2FB7779E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968A5D-5D8E-4D56-B7A4-148F31C9520D}" type="datetimeFigureOut">
              <a:rPr lang="ko-KR" altLang="en-US" smtClean="0"/>
              <a:t>2025. 11. 12.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0D4F25-C793-128C-B127-1C2058E214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429CE2-1B04-4A6B-5D55-2474FE93C0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7726F3-0D9B-4FE2-AFC1-D3EA4C8D4B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639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7A3F7B-1819-80FE-E230-464ED327A4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800" b="1" dirty="0" err="1"/>
              <a:t>MAVLink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337664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CE22DB-6753-E3BD-DEA0-8AD525761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274300" cy="600075"/>
          </a:xfrm>
        </p:spPr>
        <p:txBody>
          <a:bodyPr>
            <a:normAutofit fontScale="90000"/>
          </a:bodyPr>
          <a:lstStyle/>
          <a:p>
            <a:r>
              <a:rPr lang="en-US" altLang="ko-KR" sz="4000" b="1" err="1"/>
              <a:t>MAVLink</a:t>
            </a: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CCE62B3-D164-B6B0-F4F1-2A2EB10DA596}"/>
              </a:ext>
            </a:extLst>
          </p:cNvPr>
          <p:cNvSpPr/>
          <p:nvPr/>
        </p:nvSpPr>
        <p:spPr>
          <a:xfrm>
            <a:off x="3733799" y="3924300"/>
            <a:ext cx="1566333" cy="10414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/>
              <a:t>QGC</a:t>
            </a:r>
          </a:p>
          <a:p>
            <a:pPr algn="ctr"/>
            <a:r>
              <a:rPr lang="en-US" altLang="ko-KR" sz="1600" b="1" dirty="0"/>
              <a:t>(</a:t>
            </a:r>
            <a:r>
              <a:rPr lang="ko-KR" altLang="en-US" sz="1600" b="1" dirty="0"/>
              <a:t>지상 관제소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9654010-3001-67F4-32C6-868D82EB813B}"/>
              </a:ext>
            </a:extLst>
          </p:cNvPr>
          <p:cNvSpPr/>
          <p:nvPr/>
        </p:nvSpPr>
        <p:spPr>
          <a:xfrm>
            <a:off x="4724400" y="1189566"/>
            <a:ext cx="1371600" cy="10414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/>
              <a:t>PX4 </a:t>
            </a:r>
            <a:endParaRPr lang="ko-KR" altLang="en-US" b="1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B51E9F7-59B0-4FFB-E7FC-966395649285}"/>
              </a:ext>
            </a:extLst>
          </p:cNvPr>
          <p:cNvCxnSpPr/>
          <p:nvPr/>
        </p:nvCxnSpPr>
        <p:spPr>
          <a:xfrm>
            <a:off x="5410200" y="2455333"/>
            <a:ext cx="0" cy="124460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BA88A7D-5AE6-4A06-5046-866B65131403}"/>
              </a:ext>
            </a:extLst>
          </p:cNvPr>
          <p:cNvSpPr/>
          <p:nvPr/>
        </p:nvSpPr>
        <p:spPr>
          <a:xfrm>
            <a:off x="5647266" y="3924300"/>
            <a:ext cx="1566333" cy="10414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/>
              <a:t>Companion computer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7D11A5-0223-4B15-3B3E-D57F86CE342E}"/>
              </a:ext>
            </a:extLst>
          </p:cNvPr>
          <p:cNvSpPr txBox="1"/>
          <p:nvPr/>
        </p:nvSpPr>
        <p:spPr>
          <a:xfrm>
            <a:off x="2074333" y="2658534"/>
            <a:ext cx="3225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err="1"/>
              <a:t>MAVLink</a:t>
            </a:r>
            <a:r>
              <a:rPr lang="en-US" altLang="ko-KR" sz="1600" b="1"/>
              <a:t> </a:t>
            </a:r>
            <a:br>
              <a:rPr lang="en-US" altLang="ko-KR" sz="1600"/>
            </a:br>
            <a:r>
              <a:rPr lang="en-US" altLang="ko-KR" sz="1600"/>
              <a:t>- ROS2 </a:t>
            </a:r>
            <a:r>
              <a:rPr lang="ko-KR" altLang="en-US" sz="1600"/>
              <a:t>메시지</a:t>
            </a:r>
            <a:endParaRPr lang="en-US" altLang="ko-KR" sz="1600"/>
          </a:p>
          <a:p>
            <a:r>
              <a:rPr lang="en-US" altLang="ko-KR" sz="1600"/>
              <a:t>- </a:t>
            </a:r>
            <a:r>
              <a:rPr lang="ko-KR" altLang="en-US" sz="1600"/>
              <a:t>데이터를 주고 받는 통신 규약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6BD88F-0EAF-9AC3-F159-E6400B6F6236}"/>
              </a:ext>
            </a:extLst>
          </p:cNvPr>
          <p:cNvSpPr txBox="1"/>
          <p:nvPr/>
        </p:nvSpPr>
        <p:spPr>
          <a:xfrm>
            <a:off x="5947834" y="2641312"/>
            <a:ext cx="362373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/>
              <a:t>MAVSDK</a:t>
            </a:r>
          </a:p>
          <a:p>
            <a:pPr marL="285750" indent="-285750">
              <a:buFontTx/>
              <a:buChar char="-"/>
            </a:pPr>
            <a:r>
              <a:rPr lang="en-US" altLang="ko-KR" sz="1600" err="1"/>
              <a:t>MAVLink</a:t>
            </a:r>
            <a:r>
              <a:rPr lang="en-US" altLang="ko-KR" sz="1600"/>
              <a:t> </a:t>
            </a:r>
            <a:r>
              <a:rPr lang="ko-KR" altLang="en-US" sz="1600"/>
              <a:t>메시지로 변환 가능한 라이브러리</a:t>
            </a:r>
            <a:br>
              <a:rPr lang="en-US" altLang="ko-KR" sz="1600"/>
            </a:br>
            <a:endParaRPr lang="ko-KR" altLang="en-US" sz="160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4FA3B43D-9033-3437-6372-4441F6713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4599" y="4299554"/>
            <a:ext cx="4182534" cy="74657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805B77B-3762-65E9-9890-4D36B3083B88}"/>
              </a:ext>
            </a:extLst>
          </p:cNvPr>
          <p:cNvSpPr txBox="1"/>
          <p:nvPr/>
        </p:nvSpPr>
        <p:spPr>
          <a:xfrm>
            <a:off x="7594599" y="5046133"/>
            <a:ext cx="399626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600" b="1" err="1"/>
              <a:t>mavsdk.camera</a:t>
            </a:r>
            <a:r>
              <a:rPr lang="ko-KR" altLang="en-US" sz="1600" b="1"/>
              <a:t> </a:t>
            </a:r>
            <a:r>
              <a:rPr lang="en-US" altLang="ko-KR" sz="1600"/>
              <a:t>:</a:t>
            </a:r>
            <a:r>
              <a:rPr lang="ko-KR" altLang="en-US" sz="1600"/>
              <a:t> </a:t>
            </a:r>
            <a:r>
              <a:rPr lang="en-US" altLang="ko-KR" sz="1600"/>
              <a:t>MAVSDK</a:t>
            </a:r>
            <a:r>
              <a:rPr lang="ko-KR" altLang="en-US" sz="1600"/>
              <a:t>에 있는 카메라 모듈 가져옴 </a:t>
            </a:r>
            <a:endParaRPr lang="en-US" altLang="ko-KR" sz="1600"/>
          </a:p>
          <a:p>
            <a:pPr marL="285750" indent="-285750">
              <a:buFontTx/>
              <a:buChar char="-"/>
            </a:pPr>
            <a:r>
              <a:rPr lang="en-US" altLang="ko-KR" sz="1600" b="1"/>
              <a:t>from mavsdk import system: </a:t>
            </a:r>
            <a:r>
              <a:rPr lang="ko-KR" altLang="en-US" sz="1600"/>
              <a:t>픽스호크와 통신 연결 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05DF8B95-2399-C199-2827-459BA88DF1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182865"/>
            <a:ext cx="6153141" cy="53030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52DCDE4-7685-CE27-13A2-3BCF4F3B5E67}"/>
              </a:ext>
            </a:extLst>
          </p:cNvPr>
          <p:cNvSpPr txBox="1"/>
          <p:nvPr/>
        </p:nvSpPr>
        <p:spPr>
          <a:xfrm>
            <a:off x="838200" y="5784797"/>
            <a:ext cx="62568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/>
              <a:t>MAVSDK</a:t>
            </a:r>
            <a:r>
              <a:rPr lang="ko-KR" altLang="en-US" sz="1600"/>
              <a:t>를 이용해서 </a:t>
            </a:r>
            <a:r>
              <a:rPr lang="ko-KR" altLang="en-US" sz="1600" err="1"/>
              <a:t>픽스호크</a:t>
            </a:r>
            <a:r>
              <a:rPr lang="ko-KR" altLang="en-US" sz="1600"/>
              <a:t> 데이터를 자유롭게 사용할 수 있음  </a:t>
            </a:r>
          </a:p>
        </p:txBody>
      </p:sp>
    </p:spTree>
    <p:extLst>
      <p:ext uri="{BB962C8B-B14F-4D97-AF65-F5344CB8AC3E}">
        <p14:creationId xmlns:p14="http://schemas.microsoft.com/office/powerpoint/2010/main" val="1949474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B15C661E-B85A-A670-E502-41D858DAD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274300" cy="600075"/>
          </a:xfrm>
        </p:spPr>
        <p:txBody>
          <a:bodyPr>
            <a:normAutofit fontScale="90000"/>
          </a:bodyPr>
          <a:lstStyle/>
          <a:p>
            <a:r>
              <a:rPr lang="en-US" altLang="ko-KR" sz="4000" b="1" err="1"/>
              <a:t>MAVLink</a:t>
            </a: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DFB49E-FB98-9DEB-A1A5-D6A26D604EF7}"/>
              </a:ext>
            </a:extLst>
          </p:cNvPr>
          <p:cNvSpPr txBox="1"/>
          <p:nvPr/>
        </p:nvSpPr>
        <p:spPr>
          <a:xfrm>
            <a:off x="3115734" y="495871"/>
            <a:ext cx="7840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/>
              <a:t>– HEARTBEAT</a:t>
            </a:r>
            <a:r>
              <a:rPr lang="ko-KR" altLang="en-US"/>
              <a:t> 메시지</a:t>
            </a:r>
            <a:r>
              <a:rPr lang="en-US" altLang="ko-KR"/>
              <a:t>(0)</a:t>
            </a:r>
            <a:r>
              <a:rPr lang="ko-KR" altLang="en-US"/>
              <a:t> </a:t>
            </a:r>
            <a:r>
              <a:rPr lang="en-US" altLang="ko-KR"/>
              <a:t>https://mavlink.io/en/messages/common.html</a:t>
            </a:r>
            <a:r>
              <a:rPr lang="ko-KR" altLang="en-US"/>
              <a:t> </a:t>
            </a:r>
            <a:r>
              <a:rPr lang="en-US" altLang="ko-KR"/>
              <a:t> </a:t>
            </a:r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33A164C-BA8B-B73B-6708-6EEFE207C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746" y="1029816"/>
            <a:ext cx="6525472" cy="5443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29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CFCBBDA2-0800-0244-1E3D-B5B195438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277" y="1165165"/>
            <a:ext cx="11331445" cy="4527670"/>
          </a:xfrm>
          <a:prstGeom prst="rect">
            <a:avLst/>
          </a:prstGeom>
        </p:spPr>
      </p:pic>
      <p:sp>
        <p:nvSpPr>
          <p:cNvPr id="10" name="제목 1">
            <a:extLst>
              <a:ext uri="{FF2B5EF4-FFF2-40B4-BE49-F238E27FC236}">
                <a16:creationId xmlns:a16="http://schemas.microsoft.com/office/drawing/2014/main" id="{632686AE-F61E-7233-02F4-8F3B5CCAF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274300" cy="600075"/>
          </a:xfrm>
        </p:spPr>
        <p:txBody>
          <a:bodyPr>
            <a:normAutofit fontScale="90000"/>
          </a:bodyPr>
          <a:lstStyle/>
          <a:p>
            <a:r>
              <a:rPr lang="en-US" altLang="ko-KR" sz="4000" b="1" err="1"/>
              <a:t>MAVLink</a:t>
            </a: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8C11B4-D0B8-01F8-3900-211087133C16}"/>
              </a:ext>
            </a:extLst>
          </p:cNvPr>
          <p:cNvSpPr txBox="1"/>
          <p:nvPr/>
        </p:nvSpPr>
        <p:spPr>
          <a:xfrm>
            <a:off x="3115734" y="495871"/>
            <a:ext cx="7840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/>
              <a:t>– Status</a:t>
            </a:r>
            <a:r>
              <a:rPr lang="ko-KR" altLang="en-US"/>
              <a:t> 메시지</a:t>
            </a:r>
            <a:r>
              <a:rPr lang="en-US" altLang="ko-KR"/>
              <a:t>(1)</a:t>
            </a:r>
            <a:r>
              <a:rPr lang="ko-KR" altLang="en-US"/>
              <a:t> </a:t>
            </a:r>
            <a:r>
              <a:rPr lang="en-US" altLang="ko-KR"/>
              <a:t>https://mavlink.io/en/messages/common.html</a:t>
            </a:r>
            <a:r>
              <a:rPr lang="ko-KR" altLang="en-US"/>
              <a:t> </a:t>
            </a:r>
            <a:r>
              <a:rPr lang="en-US" altLang="ko-KR"/>
              <a:t>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0652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0438D49-68C8-0446-887A-F4207FBB5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2" y="191333"/>
            <a:ext cx="6370893" cy="647533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33B5AAE-2B29-C622-4C0F-AE4749636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951" y="2054061"/>
            <a:ext cx="2229161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920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5DAF6-5814-8C7A-2901-36AF22073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7FDC38F5-B73C-06F6-038A-327E73344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274300" cy="600075"/>
          </a:xfrm>
        </p:spPr>
        <p:txBody>
          <a:bodyPr>
            <a:normAutofit fontScale="90000"/>
          </a:bodyPr>
          <a:lstStyle/>
          <a:p>
            <a:r>
              <a:rPr lang="en-US" altLang="ko-KR" sz="4000" b="1" err="1"/>
              <a:t>MAVLink</a:t>
            </a: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BF80FB-63A9-546D-3A0E-AABB4EA4E91A}"/>
              </a:ext>
            </a:extLst>
          </p:cNvPr>
          <p:cNvSpPr txBox="1"/>
          <p:nvPr/>
        </p:nvSpPr>
        <p:spPr>
          <a:xfrm>
            <a:off x="838200" y="1058333"/>
            <a:ext cx="8890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MAV Link – PX4  </a:t>
            </a:r>
            <a:r>
              <a:rPr lang="ko-KR" altLang="en-US" dirty="0"/>
              <a:t>빌드 과정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사용되는 모든 </a:t>
            </a:r>
            <a:r>
              <a:rPr lang="en-US" altLang="ko-KR" dirty="0" err="1"/>
              <a:t>MAVLink</a:t>
            </a:r>
            <a:r>
              <a:rPr lang="ko-KR" altLang="en-US" dirty="0"/>
              <a:t>의 정의는 </a:t>
            </a:r>
            <a:r>
              <a:rPr lang="en-US" altLang="ko-KR" dirty="0" err="1"/>
              <a:t>common.xml</a:t>
            </a:r>
            <a:r>
              <a:rPr lang="en-US" altLang="ko-KR" dirty="0"/>
              <a:t> </a:t>
            </a:r>
            <a:r>
              <a:rPr lang="ko-KR" altLang="en-US" dirty="0"/>
              <a:t>파일에 있어야함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개발 중에만 </a:t>
            </a:r>
            <a:r>
              <a:rPr lang="en-US" altLang="ko-KR" dirty="0" err="1"/>
              <a:t>development.xml</a:t>
            </a:r>
            <a:r>
              <a:rPr lang="ko-KR" altLang="en-US" dirty="0"/>
              <a:t>에 정의된 내용 사용 가능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 err="1"/>
              <a:t>mavlink</a:t>
            </a:r>
            <a:r>
              <a:rPr lang="en-US" altLang="ko-KR" dirty="0"/>
              <a:t>/</a:t>
            </a:r>
            <a:r>
              <a:rPr lang="en-US" altLang="ko-KR" dirty="0" err="1"/>
              <a:t>mavlink</a:t>
            </a:r>
            <a:r>
              <a:rPr lang="ko-KR" altLang="en-US" dirty="0"/>
              <a:t> 저장소를</a:t>
            </a:r>
            <a:r>
              <a:rPr lang="en-US" altLang="ko-KR" dirty="0"/>
              <a:t> /</a:t>
            </a:r>
            <a:r>
              <a:rPr lang="en-US" altLang="ko-KR" dirty="0" err="1"/>
              <a:t>src</a:t>
            </a:r>
            <a:r>
              <a:rPr lang="en-US" altLang="ko-KR" dirty="0"/>
              <a:t>/modules/</a:t>
            </a:r>
            <a:r>
              <a:rPr lang="en-US" altLang="ko-KR" dirty="0" err="1"/>
              <a:t>mavlink</a:t>
            </a:r>
            <a:r>
              <a:rPr lang="en-US" altLang="ko-KR" dirty="0"/>
              <a:t> </a:t>
            </a:r>
            <a:r>
              <a:rPr lang="ko-KR" altLang="en-US" dirty="0"/>
              <a:t>하위 모듈로 포함하고 있어서 이 모듈에는 </a:t>
            </a:r>
            <a:r>
              <a:rPr lang="en-US" altLang="ko-KR" dirty="0"/>
              <a:t>XML </a:t>
            </a:r>
            <a:r>
              <a:rPr lang="ko-KR" altLang="en-US" dirty="0"/>
              <a:t>정의 파일들이 </a:t>
            </a:r>
            <a:r>
              <a:rPr lang="en-US" altLang="ko-KR" dirty="0"/>
              <a:t>/</a:t>
            </a:r>
            <a:r>
              <a:rPr lang="en-US" altLang="ko-KR" dirty="0" err="1"/>
              <a:t>mavlink</a:t>
            </a:r>
            <a:r>
              <a:rPr lang="en-US" altLang="ko-KR" dirty="0"/>
              <a:t>/messages/1.0/ </a:t>
            </a:r>
            <a:r>
              <a:rPr lang="ko-KR" altLang="en-US" dirty="0"/>
              <a:t>경로에 들어가 있음 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빌드를 할 때는 이 </a:t>
            </a:r>
            <a:r>
              <a:rPr lang="en-US" altLang="ko-KR" dirty="0"/>
              <a:t>xml </a:t>
            </a:r>
            <a:r>
              <a:rPr lang="ko-KR" altLang="en-US" dirty="0"/>
              <a:t>파일들을 기반으로 </a:t>
            </a:r>
            <a:r>
              <a:rPr lang="en-US" altLang="ko-KR" dirty="0" err="1"/>
              <a:t>MAVLink</a:t>
            </a:r>
            <a:r>
              <a:rPr lang="en-US" altLang="ko-KR" dirty="0"/>
              <a:t> C</a:t>
            </a:r>
            <a:r>
              <a:rPr lang="ko-KR" altLang="en-US" dirty="0"/>
              <a:t>헤더파일을 생성 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이때 </a:t>
            </a:r>
            <a:r>
              <a:rPr lang="en-US" altLang="ko-KR" dirty="0"/>
              <a:t>XML </a:t>
            </a:r>
            <a:r>
              <a:rPr lang="ko-KR" altLang="en-US" dirty="0"/>
              <a:t>파일은 </a:t>
            </a:r>
            <a:r>
              <a:rPr lang="en-US" altLang="ko-KR" dirty="0"/>
              <a:t>CONFIG_MAVLINK_DIALECT </a:t>
            </a:r>
            <a:r>
              <a:rPr lang="ko-KR" altLang="en-US" dirty="0"/>
              <a:t>변수를 사용해서 보드별로 정의됨 </a:t>
            </a: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FD08E89-3969-AB3F-8653-1A6C5F31C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552" y="3275190"/>
            <a:ext cx="7487695" cy="25244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47F60D0-07C6-0D5F-7091-C362778E8CA8}"/>
              </a:ext>
            </a:extLst>
          </p:cNvPr>
          <p:cNvSpPr txBox="1"/>
          <p:nvPr/>
        </p:nvSpPr>
        <p:spPr>
          <a:xfrm>
            <a:off x="1193800" y="5994400"/>
            <a:ext cx="9364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MAVLink</a:t>
            </a:r>
            <a:r>
              <a:rPr lang="en-US" altLang="ko-KR" dirty="0"/>
              <a:t> </a:t>
            </a:r>
            <a:r>
              <a:rPr lang="ko-KR" altLang="en-US" dirty="0"/>
              <a:t>통신 </a:t>
            </a:r>
            <a:r>
              <a:rPr lang="en-US" altLang="ko-KR" dirty="0"/>
              <a:t>-&gt; </a:t>
            </a:r>
            <a:r>
              <a:rPr lang="ko-KR" altLang="en-US" dirty="0"/>
              <a:t>호환성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PX4, QGC, MAVSDK </a:t>
            </a:r>
            <a:r>
              <a:rPr lang="ko-KR" altLang="en-US" dirty="0"/>
              <a:t>모두 동일한 </a:t>
            </a:r>
            <a:r>
              <a:rPr lang="en-US" altLang="ko-KR" dirty="0"/>
              <a:t>xml </a:t>
            </a:r>
            <a:r>
              <a:rPr lang="ko-KR" altLang="en-US" dirty="0"/>
              <a:t>파일을 기반으로 만들어져야 함 </a:t>
            </a:r>
          </a:p>
        </p:txBody>
      </p:sp>
    </p:spTree>
    <p:extLst>
      <p:ext uri="{BB962C8B-B14F-4D97-AF65-F5344CB8AC3E}">
        <p14:creationId xmlns:p14="http://schemas.microsoft.com/office/powerpoint/2010/main" val="666013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ACDA5-2713-359F-B73F-780A30788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75420534-F0DD-6C23-D111-D653216CC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274300" cy="600075"/>
          </a:xfrm>
        </p:spPr>
        <p:txBody>
          <a:bodyPr>
            <a:normAutofit fontScale="90000"/>
          </a:bodyPr>
          <a:lstStyle/>
          <a:p>
            <a:r>
              <a:rPr lang="en-US" altLang="ko-KR" sz="4000" b="1" err="1"/>
              <a:t>MAVLink</a:t>
            </a: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849C18-0F05-B80F-4385-AEB9E40DD74A}"/>
              </a:ext>
            </a:extLst>
          </p:cNvPr>
          <p:cNvSpPr txBox="1"/>
          <p:nvPr/>
        </p:nvSpPr>
        <p:spPr>
          <a:xfrm>
            <a:off x="643467" y="1249402"/>
            <a:ext cx="10143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Streaming</a:t>
            </a:r>
            <a:r>
              <a:rPr lang="ko-KR" altLang="en-US"/>
              <a:t> </a:t>
            </a:r>
            <a:r>
              <a:rPr lang="en-US" altLang="ko-KR"/>
              <a:t>messages : </a:t>
            </a:r>
            <a:r>
              <a:rPr lang="ko-KR" altLang="en-US"/>
              <a:t>픽스호크 내부 통신 데이터 </a:t>
            </a:r>
            <a:r>
              <a:rPr lang="en-US" altLang="ko-KR"/>
              <a:t>(uORB)</a:t>
            </a:r>
            <a:r>
              <a:rPr lang="ko-KR" altLang="en-US"/>
              <a:t>가 외부 통신</a:t>
            </a:r>
            <a:r>
              <a:rPr lang="en-US" altLang="ko-KR"/>
              <a:t>(MAVLink)</a:t>
            </a:r>
            <a:r>
              <a:rPr lang="ko-KR" altLang="en-US"/>
              <a:t>로 나가는 과정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9FFABF-473F-6D11-FC20-840319AF14FD}"/>
              </a:ext>
            </a:extLst>
          </p:cNvPr>
          <p:cNvSpPr txBox="1"/>
          <p:nvPr/>
        </p:nvSpPr>
        <p:spPr>
          <a:xfrm>
            <a:off x="643467" y="1661067"/>
            <a:ext cx="897466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/>
              <a:t>MavlinkStream (class) : </a:t>
            </a:r>
            <a:r>
              <a:rPr lang="ko-KR" altLang="en-US"/>
              <a:t>메시지를 연속적으로 전송 </a:t>
            </a:r>
            <a:br>
              <a:rPr lang="en-US" altLang="ko-KR"/>
            </a:br>
            <a:r>
              <a:rPr lang="en-US" altLang="ko-KR"/>
              <a:t>-&gt; </a:t>
            </a:r>
            <a:r>
              <a:rPr lang="ko-KR" altLang="en-US"/>
              <a:t>각 메시지 별로 </a:t>
            </a:r>
            <a:r>
              <a:rPr lang="en-US" altLang="ko-KR"/>
              <a:t>streaming class </a:t>
            </a:r>
            <a:r>
              <a:rPr lang="ko-KR" altLang="en-US"/>
              <a:t>를 구현 가능 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en-US" altLang="ko-KR"/>
              <a:t>send() (method) : uORB</a:t>
            </a:r>
            <a:r>
              <a:rPr lang="ko-KR" altLang="en-US"/>
              <a:t>로부터 복사된 데이터를 </a:t>
            </a:r>
            <a:r>
              <a:rPr lang="en-US" altLang="ko-KR"/>
              <a:t>MAVLink </a:t>
            </a:r>
            <a:r>
              <a:rPr lang="ko-KR" altLang="en-US"/>
              <a:t>메시지로 변환해서 외부에 전송가능함 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ko-KR" altLang="en-US"/>
              <a:t>데이터 흐름 </a:t>
            </a:r>
            <a:br>
              <a:rPr lang="en-US" altLang="ko-KR"/>
            </a:br>
            <a:r>
              <a:rPr lang="ko-KR" altLang="en-US"/>
              <a:t>내부 </a:t>
            </a:r>
            <a:r>
              <a:rPr lang="en-US" altLang="ko-KR"/>
              <a:t>uORB </a:t>
            </a:r>
            <a:r>
              <a:rPr lang="ko-KR" altLang="en-US"/>
              <a:t>구독 </a:t>
            </a:r>
            <a:r>
              <a:rPr lang="en-US" altLang="ko-KR"/>
              <a:t>-&gt; Mavlinkstream -&gt; send() -&gt; MAVLink </a:t>
            </a:r>
            <a:r>
              <a:rPr lang="ko-KR" altLang="en-US"/>
              <a:t>메시지로 변환 </a:t>
            </a:r>
            <a:r>
              <a:rPr lang="en-US" altLang="ko-KR"/>
              <a:t>-&gt; </a:t>
            </a:r>
            <a:r>
              <a:rPr lang="ko-KR" altLang="en-US"/>
              <a:t>외부 전송 </a:t>
            </a:r>
          </a:p>
        </p:txBody>
      </p:sp>
    </p:spTree>
    <p:extLst>
      <p:ext uri="{BB962C8B-B14F-4D97-AF65-F5344CB8AC3E}">
        <p14:creationId xmlns:p14="http://schemas.microsoft.com/office/powerpoint/2010/main" val="3519893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B0C0167-DD97-7A7A-9772-3AFB9837E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79" y="128446"/>
            <a:ext cx="6577949" cy="18781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19A849-9380-6041-DC80-95192F528ABE}"/>
              </a:ext>
            </a:extLst>
          </p:cNvPr>
          <p:cNvSpPr txBox="1"/>
          <p:nvPr/>
        </p:nvSpPr>
        <p:spPr>
          <a:xfrm>
            <a:off x="442945" y="2006600"/>
            <a:ext cx="102954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src</a:t>
            </a:r>
            <a:r>
              <a:rPr lang="en-US" altLang="ko-KR" dirty="0"/>
              <a:t>/modules/</a:t>
            </a:r>
            <a:r>
              <a:rPr lang="en-US" altLang="ko-KR" dirty="0" err="1"/>
              <a:t>mavlink</a:t>
            </a:r>
            <a:r>
              <a:rPr lang="en-US" altLang="ko-KR" dirty="0"/>
              <a:t> : </a:t>
            </a:r>
            <a:r>
              <a:rPr lang="en-US" altLang="ko-KR" dirty="0" err="1"/>
              <a:t>mavlink</a:t>
            </a:r>
            <a:r>
              <a:rPr lang="en-US" altLang="ko-KR" dirty="0"/>
              <a:t> </a:t>
            </a:r>
            <a:r>
              <a:rPr lang="ko-KR" altLang="en-US" dirty="0"/>
              <a:t>정의를 포함하는 모듈 위치</a:t>
            </a:r>
            <a:r>
              <a:rPr lang="en-US" altLang="ko-KR" dirty="0"/>
              <a:t> -&gt;</a:t>
            </a:r>
            <a:r>
              <a:rPr lang="ko-KR" altLang="en-US" dirty="0"/>
              <a:t>표준정의 </a:t>
            </a:r>
            <a:r>
              <a:rPr lang="en-US" altLang="ko-KR" dirty="0"/>
              <a:t>(</a:t>
            </a:r>
            <a:r>
              <a:rPr lang="en-US" altLang="ko-KR" dirty="0" err="1"/>
              <a:t>common.xml</a:t>
            </a:r>
            <a:r>
              <a:rPr lang="ko-KR" altLang="en-US" dirty="0"/>
              <a:t>포함</a:t>
            </a:r>
            <a:r>
              <a:rPr lang="en-US" altLang="ko-KR" dirty="0"/>
              <a:t>) </a:t>
            </a:r>
          </a:p>
          <a:p>
            <a:r>
              <a:rPr lang="ko-KR" altLang="en-US" dirty="0"/>
              <a:t>이때 </a:t>
            </a:r>
            <a:r>
              <a:rPr lang="en-US" altLang="ko-KR" dirty="0" err="1"/>
              <a:t>development.xml</a:t>
            </a:r>
            <a:r>
              <a:rPr lang="en-US" altLang="ko-KR" dirty="0"/>
              <a:t> </a:t>
            </a:r>
            <a:r>
              <a:rPr lang="ko-KR" altLang="en-US" dirty="0"/>
              <a:t>을 사용했으므로 실제 하드웨어 제어가 아닌 시뮬레이션 제어 </a:t>
            </a:r>
            <a:endParaRPr lang="en-US" altLang="ko-KR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5120A01-873A-1A95-3908-CA26ADEB0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67" y="3327259"/>
            <a:ext cx="9055807" cy="29022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2664F25-2D80-FCF4-FBA2-8051B348EBCB}"/>
              </a:ext>
            </a:extLst>
          </p:cNvPr>
          <p:cNvSpPr txBox="1"/>
          <p:nvPr/>
        </p:nvSpPr>
        <p:spPr>
          <a:xfrm>
            <a:off x="762351" y="2957927"/>
            <a:ext cx="9301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새로운 </a:t>
            </a:r>
            <a:r>
              <a:rPr lang="en-US" altLang="ko-KR"/>
              <a:t>MAVLink </a:t>
            </a:r>
            <a:r>
              <a:rPr lang="ko-KR" altLang="en-US"/>
              <a:t>메시지 형식을 만듦 </a:t>
            </a:r>
            <a:r>
              <a:rPr lang="en-US" altLang="ko-KR"/>
              <a:t>= </a:t>
            </a:r>
            <a:r>
              <a:rPr lang="ko-KR" altLang="en-US"/>
              <a:t>새로운 데이터 형식을 설계 </a:t>
            </a:r>
            <a:r>
              <a:rPr lang="en-US" altLang="ko-KR"/>
              <a:t>: Adding messages </a:t>
            </a:r>
            <a:r>
              <a:rPr lang="ko-KR" altLang="en-US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92768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1765B-6425-26CE-F431-BC61D63A8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ABD15A8C-F5C4-C57B-9B29-E9163246B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274300" cy="600075"/>
          </a:xfrm>
        </p:spPr>
        <p:txBody>
          <a:bodyPr>
            <a:normAutofit fontScale="90000"/>
          </a:bodyPr>
          <a:lstStyle/>
          <a:p>
            <a:r>
              <a:rPr lang="en-US" altLang="ko-KR" sz="4000" b="1" err="1"/>
              <a:t>MAVLink</a:t>
            </a:r>
            <a:r>
              <a:rPr lang="en-US" altLang="ko-KR"/>
              <a:t> 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AD6651-4997-E623-D20B-33B4C04398B1}"/>
              </a:ext>
            </a:extLst>
          </p:cNvPr>
          <p:cNvSpPr txBox="1"/>
          <p:nvPr/>
        </p:nvSpPr>
        <p:spPr>
          <a:xfrm>
            <a:off x="838199" y="965200"/>
            <a:ext cx="98008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streaming message </a:t>
            </a:r>
            <a:r>
              <a:rPr lang="ko-KR" altLang="en-US" dirty="0"/>
              <a:t>코드 </a:t>
            </a:r>
            <a:r>
              <a:rPr lang="en-US" altLang="ko-KR" dirty="0"/>
              <a:t>: </a:t>
            </a:r>
            <a:r>
              <a:rPr lang="ko-KR" altLang="en-US" dirty="0"/>
              <a:t>배터리 상태를 주기적으로 발행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내부의 </a:t>
            </a:r>
            <a:r>
              <a:rPr lang="en-US" altLang="ko-KR" dirty="0" err="1"/>
              <a:t>uROB</a:t>
            </a:r>
            <a:r>
              <a:rPr lang="en-US" altLang="ko-KR" dirty="0"/>
              <a:t> </a:t>
            </a:r>
            <a:r>
              <a:rPr lang="ko-KR" altLang="en-US" dirty="0"/>
              <a:t>데이터를 외부로 송신 </a:t>
            </a:r>
            <a:r>
              <a:rPr lang="en-US" altLang="ko-KR" dirty="0"/>
              <a:t>(send) -&gt; </a:t>
            </a:r>
            <a:r>
              <a:rPr lang="en-US" altLang="ko-KR" dirty="0" err="1"/>
              <a:t>uROB</a:t>
            </a:r>
            <a:r>
              <a:rPr lang="ko-KR" altLang="en-US" dirty="0" err="1"/>
              <a:t>를</a:t>
            </a:r>
            <a:r>
              <a:rPr lang="ko-KR" altLang="en-US" dirty="0"/>
              <a:t> 구독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B4D92CE-4368-6B63-4288-5F9D1A28C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294" y="1955989"/>
            <a:ext cx="4093455" cy="377725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866EB96-F2DC-EB35-4BC6-CB4BDB3A3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6062" y="1716009"/>
            <a:ext cx="3932498" cy="5259415"/>
          </a:xfrm>
          <a:prstGeom prst="rect">
            <a:avLst/>
          </a:prstGeom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A3C4ED3-8AC8-01E0-6F83-0E1D2ABFB864}"/>
              </a:ext>
            </a:extLst>
          </p:cNvPr>
          <p:cNvCxnSpPr>
            <a:cxnSpLocks/>
          </p:cNvCxnSpPr>
          <p:nvPr/>
        </p:nvCxnSpPr>
        <p:spPr>
          <a:xfrm>
            <a:off x="957446" y="2236448"/>
            <a:ext cx="146387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5A28810-04FA-D8ED-B062-27893C97CD9E}"/>
              </a:ext>
            </a:extLst>
          </p:cNvPr>
          <p:cNvCxnSpPr>
            <a:cxnSpLocks/>
          </p:cNvCxnSpPr>
          <p:nvPr/>
        </p:nvCxnSpPr>
        <p:spPr>
          <a:xfrm>
            <a:off x="5097737" y="2512283"/>
            <a:ext cx="372868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BEEFC80B-B152-BC5A-BC97-E31901363EEF}"/>
              </a:ext>
            </a:extLst>
          </p:cNvPr>
          <p:cNvCxnSpPr>
            <a:cxnSpLocks/>
          </p:cNvCxnSpPr>
          <p:nvPr/>
        </p:nvCxnSpPr>
        <p:spPr>
          <a:xfrm>
            <a:off x="1259840" y="3357880"/>
            <a:ext cx="24739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CDC642E6-05A2-C671-F581-17A8F3B5ECB9}"/>
              </a:ext>
            </a:extLst>
          </p:cNvPr>
          <p:cNvCxnSpPr>
            <a:cxnSpLocks/>
          </p:cNvCxnSpPr>
          <p:nvPr/>
        </p:nvCxnSpPr>
        <p:spPr>
          <a:xfrm>
            <a:off x="1259840" y="4424680"/>
            <a:ext cx="17830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4F749D09-C733-CD51-BB09-D31A3C96EEBB}"/>
              </a:ext>
            </a:extLst>
          </p:cNvPr>
          <p:cNvCxnSpPr>
            <a:cxnSpLocks/>
          </p:cNvCxnSpPr>
          <p:nvPr/>
        </p:nvCxnSpPr>
        <p:spPr>
          <a:xfrm>
            <a:off x="1259840" y="5455920"/>
            <a:ext cx="3159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0033B68C-0D38-5E9F-6169-35FBC23E9C32}"/>
              </a:ext>
            </a:extLst>
          </p:cNvPr>
          <p:cNvCxnSpPr>
            <a:cxnSpLocks/>
          </p:cNvCxnSpPr>
          <p:nvPr/>
        </p:nvCxnSpPr>
        <p:spPr>
          <a:xfrm>
            <a:off x="1295400" y="3891280"/>
            <a:ext cx="112592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CEBD82ED-53B5-1C0D-6D11-7B45D295E907}"/>
              </a:ext>
            </a:extLst>
          </p:cNvPr>
          <p:cNvCxnSpPr>
            <a:cxnSpLocks/>
          </p:cNvCxnSpPr>
          <p:nvPr/>
        </p:nvCxnSpPr>
        <p:spPr>
          <a:xfrm>
            <a:off x="1198880" y="4932680"/>
            <a:ext cx="8128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91FE7ACC-A793-FB50-70E8-C488BE903CE9}"/>
              </a:ext>
            </a:extLst>
          </p:cNvPr>
          <p:cNvCxnSpPr>
            <a:cxnSpLocks/>
          </p:cNvCxnSpPr>
          <p:nvPr/>
        </p:nvCxnSpPr>
        <p:spPr>
          <a:xfrm>
            <a:off x="5412697" y="3487643"/>
            <a:ext cx="98810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6003FC8-6CB6-8DE2-97EF-77B5D862F515}"/>
              </a:ext>
            </a:extLst>
          </p:cNvPr>
          <p:cNvSpPr txBox="1"/>
          <p:nvPr/>
        </p:nvSpPr>
        <p:spPr>
          <a:xfrm>
            <a:off x="2926494" y="519858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dirty="0" err="1"/>
              <a:t>Battery_Status_DEMO.hpp</a:t>
            </a:r>
            <a:r>
              <a:rPr kumimoji="1" lang="en-US" altLang="ko-KR" dirty="0"/>
              <a:t>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62BFF1-6A87-208B-3E67-2A2E1838A516}"/>
              </a:ext>
            </a:extLst>
          </p:cNvPr>
          <p:cNvSpPr txBox="1"/>
          <p:nvPr/>
        </p:nvSpPr>
        <p:spPr>
          <a:xfrm>
            <a:off x="8824679" y="1852536"/>
            <a:ext cx="18143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Private : </a:t>
            </a:r>
            <a:r>
              <a:rPr kumimoji="1" lang="en-US" altLang="ko-KR" sz="1400" dirty="0" err="1"/>
              <a:t>uROB</a:t>
            </a:r>
            <a:r>
              <a:rPr kumimoji="1" lang="ko-KR" altLang="en-US" sz="1400" dirty="0"/>
              <a:t>토픽의 데이터를 </a:t>
            </a:r>
            <a:r>
              <a:rPr kumimoji="1" lang="ko-KR" altLang="en-US" sz="1400" dirty="0" err="1"/>
              <a:t>읽어옴</a:t>
            </a:r>
            <a:br>
              <a:rPr kumimoji="1" lang="en-US" altLang="ko-KR" sz="1400" dirty="0"/>
            </a:br>
            <a:r>
              <a:rPr kumimoji="1" lang="en-US" altLang="ko-KR" sz="1400" dirty="0"/>
              <a:t>&lt;</a:t>
            </a:r>
            <a:r>
              <a:rPr kumimoji="1" lang="en-US" altLang="ko-KR" sz="1400" dirty="0" err="1"/>
              <a:t>SubscriptionMultiArray</a:t>
            </a:r>
            <a:r>
              <a:rPr kumimoji="1" lang="en-US" altLang="ko-KR" sz="1400" dirty="0"/>
              <a:t>&gt;</a:t>
            </a:r>
            <a:endParaRPr kumimoji="1" lang="ko-KR" alt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330E0A-480F-469E-B48C-8C261C4C10C8}"/>
              </a:ext>
            </a:extLst>
          </p:cNvPr>
          <p:cNvSpPr txBox="1"/>
          <p:nvPr/>
        </p:nvSpPr>
        <p:spPr>
          <a:xfrm>
            <a:off x="8824679" y="3936926"/>
            <a:ext cx="27903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Send() : private</a:t>
            </a:r>
            <a:r>
              <a:rPr kumimoji="1" lang="ko-KR" altLang="en-US" sz="1400" dirty="0"/>
              <a:t>에서 읽어온 업데이트된 </a:t>
            </a:r>
            <a:r>
              <a:rPr kumimoji="1" lang="en-US" altLang="ko-KR" sz="1400" dirty="0" err="1"/>
              <a:t>uROB</a:t>
            </a:r>
            <a:r>
              <a:rPr kumimoji="1" lang="ko-KR" altLang="en-US" sz="1400" dirty="0"/>
              <a:t>토픽 데이터를 외부로 송신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6EA934-1A3F-8C50-0496-C2C450702C0D}"/>
              </a:ext>
            </a:extLst>
          </p:cNvPr>
          <p:cNvSpPr txBox="1"/>
          <p:nvPr/>
        </p:nvSpPr>
        <p:spPr>
          <a:xfrm>
            <a:off x="118489" y="5960315"/>
            <a:ext cx="49792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600" dirty="0" err="1"/>
              <a:t>MavlinkStream</a:t>
            </a:r>
            <a:r>
              <a:rPr kumimoji="1" lang="en-US" altLang="ko-KR" sz="1600" dirty="0"/>
              <a:t>-&gt; </a:t>
            </a:r>
            <a:r>
              <a:rPr kumimoji="1" lang="en-US" altLang="ko-KR" sz="1600" dirty="0" err="1"/>
              <a:t>MavlinkstreamBatteryStatusDemo</a:t>
            </a:r>
            <a:endParaRPr kumimoji="1" lang="ko-KR" altLang="en-US" sz="1600" dirty="0"/>
          </a:p>
        </p:txBody>
      </p:sp>
      <p:cxnSp>
        <p:nvCxnSpPr>
          <p:cNvPr id="13" name="직선 연결선 26">
            <a:extLst>
              <a:ext uri="{FF2B5EF4-FFF2-40B4-BE49-F238E27FC236}">
                <a16:creationId xmlns:a16="http://schemas.microsoft.com/office/drawing/2014/main" id="{280A758E-BF8D-9C01-3EFB-F0070D468077}"/>
              </a:ext>
            </a:extLst>
          </p:cNvPr>
          <p:cNvCxnSpPr>
            <a:cxnSpLocks/>
          </p:cNvCxnSpPr>
          <p:nvPr/>
        </p:nvCxnSpPr>
        <p:spPr>
          <a:xfrm>
            <a:off x="5373419" y="6129592"/>
            <a:ext cx="201941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4206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FB526-29BA-6BA0-6E0A-99DDE840A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097B2344-42EB-BBF0-6CB6-05709E0FE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274300" cy="600075"/>
          </a:xfrm>
        </p:spPr>
        <p:txBody>
          <a:bodyPr>
            <a:normAutofit fontScale="90000"/>
          </a:bodyPr>
          <a:lstStyle/>
          <a:p>
            <a:r>
              <a:rPr lang="en-US" altLang="ko-KR" sz="4000" b="1" dirty="0" err="1"/>
              <a:t>MAVLink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9DFD71-A26C-A0EE-FD49-D607701D165E}"/>
              </a:ext>
            </a:extLst>
          </p:cNvPr>
          <p:cNvSpPr txBox="1"/>
          <p:nvPr/>
        </p:nvSpPr>
        <p:spPr>
          <a:xfrm>
            <a:off x="1027416" y="1037690"/>
            <a:ext cx="92775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Receiving messages : </a:t>
            </a:r>
            <a:r>
              <a:rPr kumimoji="1" lang="en-US" altLang="ko-KR" dirty="0" err="1"/>
              <a:t>MAVLink</a:t>
            </a:r>
            <a:r>
              <a:rPr kumimoji="1" lang="ko-KR" altLang="en-US" dirty="0"/>
              <a:t> 메시지를 수신 </a:t>
            </a:r>
            <a:r>
              <a:rPr kumimoji="1" lang="en-US" altLang="ko-KR" dirty="0"/>
              <a:t>=</a:t>
            </a:r>
            <a:r>
              <a:rPr kumimoji="1" lang="ko-KR" altLang="en-US" dirty="0"/>
              <a:t> 내부 </a:t>
            </a:r>
            <a:r>
              <a:rPr kumimoji="1" lang="en-US" altLang="ko-KR" dirty="0" err="1"/>
              <a:t>uROB</a:t>
            </a:r>
            <a:r>
              <a:rPr kumimoji="1" lang="ko-KR" altLang="en-US" dirty="0"/>
              <a:t> 토픽을 발행하여 메시지를 수신 </a:t>
            </a:r>
            <a:r>
              <a:rPr kumimoji="1" lang="en-US" altLang="ko-KR" dirty="0"/>
              <a:t>(</a:t>
            </a:r>
            <a:r>
              <a:rPr kumimoji="1" lang="ko-KR" altLang="en-US" dirty="0"/>
              <a:t> 외부 메시지 </a:t>
            </a:r>
            <a:r>
              <a:rPr kumimoji="1" lang="en-US" altLang="ko-KR" dirty="0"/>
              <a:t>-&gt;</a:t>
            </a:r>
            <a:r>
              <a:rPr kumimoji="1" lang="ko-KR" altLang="en-US" dirty="0"/>
              <a:t> 내부 메시지 </a:t>
            </a:r>
            <a:r>
              <a:rPr kumimoji="1" lang="en-US" altLang="ko-KR" dirty="0"/>
              <a:t>)</a:t>
            </a:r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FA1D6DC-BBFB-153F-0296-BEFB03938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563" y="3066343"/>
            <a:ext cx="6705600" cy="889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DC9C725-6CDB-9240-A182-CE952B909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1863" y="4413432"/>
            <a:ext cx="6718300" cy="800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73DF0D-8D87-51CA-6505-A6D4D9A31C79}"/>
              </a:ext>
            </a:extLst>
          </p:cNvPr>
          <p:cNvSpPr txBox="1"/>
          <p:nvPr/>
        </p:nvSpPr>
        <p:spPr>
          <a:xfrm>
            <a:off x="2261676" y="2816388"/>
            <a:ext cx="68090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600" dirty="0" err="1"/>
              <a:t>Battery_status_demo</a:t>
            </a:r>
            <a:r>
              <a:rPr kumimoji="1" lang="en-US" altLang="ko-KR" sz="1600" dirty="0"/>
              <a:t> </a:t>
            </a:r>
            <a:r>
              <a:rPr kumimoji="1" lang="ko-KR" altLang="en-US" sz="1600" dirty="0"/>
              <a:t>에서 나오는 </a:t>
            </a:r>
            <a:r>
              <a:rPr kumimoji="1" lang="en-US" altLang="ko-KR" sz="1600" dirty="0" err="1"/>
              <a:t>mavlink</a:t>
            </a:r>
            <a:r>
              <a:rPr kumimoji="1" lang="ko-KR" altLang="en-US" sz="1600" dirty="0"/>
              <a:t>메시지를 처리할 함수를 선언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95004B-58DD-6CD6-D6E2-0B0AB9EF3434}"/>
              </a:ext>
            </a:extLst>
          </p:cNvPr>
          <p:cNvSpPr txBox="1"/>
          <p:nvPr/>
        </p:nvSpPr>
        <p:spPr>
          <a:xfrm>
            <a:off x="2261676" y="4049324"/>
            <a:ext cx="79506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600" dirty="0" err="1"/>
              <a:t>uROB</a:t>
            </a:r>
            <a:r>
              <a:rPr kumimoji="1" lang="en-US" altLang="ko-KR" sz="1600" dirty="0"/>
              <a:t> </a:t>
            </a:r>
            <a:r>
              <a:rPr kumimoji="1" lang="ko-KR" altLang="en-US" sz="1600" dirty="0"/>
              <a:t>게시자 </a:t>
            </a:r>
            <a:r>
              <a:rPr kumimoji="1" lang="en-US" altLang="ko-KR" sz="1600" dirty="0"/>
              <a:t>(Publisher)</a:t>
            </a:r>
            <a:r>
              <a:rPr kumimoji="1" lang="ko-KR" altLang="en-US" sz="1600" dirty="0"/>
              <a:t> 추가 </a:t>
            </a:r>
            <a:r>
              <a:rPr kumimoji="1" lang="en-US" altLang="ko-KR" sz="1600" dirty="0"/>
              <a:t>:</a:t>
            </a:r>
            <a:r>
              <a:rPr kumimoji="1" lang="ko-KR" altLang="en-US" sz="1600" dirty="0"/>
              <a:t> 대부분 단일 인스턴스만 발행하도록 설정돼 있음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3F9DD5-A0B5-922A-5A38-682DFF347E02}"/>
              </a:ext>
            </a:extLst>
          </p:cNvPr>
          <p:cNvSpPr txBox="1"/>
          <p:nvPr/>
        </p:nvSpPr>
        <p:spPr>
          <a:xfrm>
            <a:off x="2149932" y="5308665"/>
            <a:ext cx="95718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여러 배터리를 지원하고 싶다면 </a:t>
            </a:r>
            <a:r>
              <a:rPr kumimoji="1" lang="en-US" altLang="ko-KR" dirty="0"/>
              <a:t>-&gt;</a:t>
            </a:r>
            <a:r>
              <a:rPr kumimoji="1" lang="en-US" altLang="ko-KR" dirty="0" err="1"/>
              <a:t>uORB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&lt;</a:t>
            </a:r>
            <a:r>
              <a:rPr kumimoji="1" lang="en-US" altLang="ko-KR" dirty="0" err="1"/>
              <a:t>PublicationMulti</a:t>
            </a:r>
            <a:r>
              <a:rPr kumimoji="1" lang="en-US" altLang="ko-KR" dirty="0"/>
              <a:t>&gt; </a:t>
            </a:r>
            <a:r>
              <a:rPr kumimoji="1" lang="ko-KR" altLang="en-US" dirty="0"/>
              <a:t>기능을 사용하여 </a:t>
            </a:r>
            <a:endParaRPr kumimoji="1" lang="en-US" altLang="ko-KR" dirty="0"/>
          </a:p>
          <a:p>
            <a:r>
              <a:rPr kumimoji="1" lang="ko-KR" altLang="en-US" dirty="0"/>
              <a:t>여러 인스턴스</a:t>
            </a:r>
            <a:r>
              <a:rPr kumimoji="1" lang="en-US" altLang="ko-KR" dirty="0"/>
              <a:t>(</a:t>
            </a:r>
            <a:r>
              <a:rPr kumimoji="1" lang="ko-KR" altLang="en-US" dirty="0"/>
              <a:t>채널</a:t>
            </a:r>
            <a:r>
              <a:rPr kumimoji="1" lang="en-US" altLang="ko-KR" dirty="0"/>
              <a:t>)</a:t>
            </a:r>
            <a:r>
              <a:rPr kumimoji="1" lang="ko-KR" altLang="en-US" dirty="0"/>
              <a:t>을 사용해야한다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battery_status</a:t>
            </a:r>
            <a:r>
              <a:rPr kumimoji="1" lang="ko-KR" altLang="en-US" dirty="0"/>
              <a:t> 토픽을 여러 인스턴스에 나누어 게시 </a:t>
            </a:r>
            <a:endParaRPr kumimoji="1" lang="en-US" altLang="ko-KR" dirty="0"/>
          </a:p>
          <a:p>
            <a:r>
              <a:rPr kumimoji="1" lang="en-US" altLang="ko-KR" dirty="0"/>
              <a:t>-&gt;</a:t>
            </a:r>
            <a:r>
              <a:rPr kumimoji="1" lang="ko-KR" altLang="en-US" dirty="0"/>
              <a:t> 배터리 수만큼 </a:t>
            </a:r>
            <a:r>
              <a:rPr kumimoji="1" lang="en-US" altLang="ko-KR" dirty="0"/>
              <a:t>publisher </a:t>
            </a:r>
            <a:r>
              <a:rPr kumimoji="1" lang="ko-KR" altLang="en-US" dirty="0"/>
              <a:t>객체 생성</a:t>
            </a:r>
            <a:br>
              <a:rPr kumimoji="1" lang="en-US" altLang="ko-KR" dirty="0"/>
            </a:br>
            <a:endParaRPr kumimoji="1"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7592EEF-59F1-3371-E351-6C08BCB1ED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9493" y="2138091"/>
            <a:ext cx="4191000" cy="635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6C4379E-80AE-4AAB-ED25-BBAB7543DB1C}"/>
              </a:ext>
            </a:extLst>
          </p:cNvPr>
          <p:cNvSpPr txBox="1"/>
          <p:nvPr/>
        </p:nvSpPr>
        <p:spPr>
          <a:xfrm>
            <a:off x="2214563" y="1885950"/>
            <a:ext cx="4707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 err="1"/>
              <a:t>uROB</a:t>
            </a:r>
            <a:r>
              <a:rPr kumimoji="1" lang="ko-KR" altLang="en-US" dirty="0"/>
              <a:t>에 있는 </a:t>
            </a:r>
            <a:r>
              <a:rPr kumimoji="1" lang="en-US" altLang="ko-KR" dirty="0" err="1"/>
              <a:t>battery_status</a:t>
            </a:r>
            <a:r>
              <a:rPr kumimoji="1" lang="ko-KR" altLang="en-US" dirty="0"/>
              <a:t>라는 토픽 사용 </a:t>
            </a:r>
          </a:p>
        </p:txBody>
      </p: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F7FA9BE3-44F4-F3B3-0023-39209F89A4E7}"/>
              </a:ext>
            </a:extLst>
          </p:cNvPr>
          <p:cNvCxnSpPr/>
          <p:nvPr/>
        </p:nvCxnSpPr>
        <p:spPr>
          <a:xfrm>
            <a:off x="2928938" y="3637604"/>
            <a:ext cx="264477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B435306-C72D-4509-31D6-831C7AD7EABC}"/>
              </a:ext>
            </a:extLst>
          </p:cNvPr>
          <p:cNvSpPr txBox="1"/>
          <p:nvPr/>
        </p:nvSpPr>
        <p:spPr>
          <a:xfrm>
            <a:off x="224351" y="4055694"/>
            <a:ext cx="200514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/>
              <a:t>Data type</a:t>
            </a:r>
            <a:br>
              <a:rPr kumimoji="1" lang="en-US" altLang="ko-KR" sz="1600" dirty="0"/>
            </a:br>
            <a:r>
              <a:rPr kumimoji="1" lang="en-US" altLang="ko-KR" sz="1600" dirty="0"/>
              <a:t>:&lt;</a:t>
            </a:r>
            <a:r>
              <a:rPr kumimoji="1" lang="en-US" altLang="ko-KR" sz="1600" dirty="0" err="1"/>
              <a:t>battery_status_s</a:t>
            </a:r>
            <a:r>
              <a:rPr kumimoji="1" lang="en-US" altLang="ko-KR" sz="1600" dirty="0"/>
              <a:t>&gt;</a:t>
            </a:r>
          </a:p>
          <a:p>
            <a:br>
              <a:rPr kumimoji="1" lang="en-US" altLang="ko-KR" sz="1600" dirty="0"/>
            </a:br>
            <a:r>
              <a:rPr kumimoji="1" lang="en-US" altLang="ko-KR" sz="1600" dirty="0"/>
              <a:t>Publisher </a:t>
            </a:r>
            <a:r>
              <a:rPr kumimoji="1" lang="ko-KR" altLang="en-US" sz="1600" dirty="0"/>
              <a:t>객체 </a:t>
            </a:r>
            <a:br>
              <a:rPr kumimoji="1" lang="en-US" altLang="ko-KR" sz="1600" dirty="0"/>
            </a:br>
            <a:r>
              <a:rPr kumimoji="1" lang="en-US" altLang="ko-KR" sz="1600" dirty="0"/>
              <a:t>: _</a:t>
            </a:r>
            <a:r>
              <a:rPr kumimoji="1" lang="en-US" altLang="ko-KR" sz="1600" dirty="0" err="1"/>
              <a:t>battery_pub</a:t>
            </a:r>
            <a:br>
              <a:rPr kumimoji="1" lang="en-US" altLang="ko-KR" sz="1600" dirty="0"/>
            </a:br>
            <a:r>
              <a:rPr kumimoji="1" lang="en-US" altLang="ko-KR" sz="1600" dirty="0"/>
              <a:t>Topic </a:t>
            </a:r>
            <a:br>
              <a:rPr kumimoji="1" lang="en-US" altLang="ko-KR" sz="1600" dirty="0"/>
            </a:br>
            <a:r>
              <a:rPr kumimoji="1" lang="en-US" altLang="ko-KR" sz="1600" dirty="0"/>
              <a:t>:</a:t>
            </a:r>
            <a:r>
              <a:rPr kumimoji="1" lang="en-US" altLang="ko-KR" sz="1600" dirty="0" err="1"/>
              <a:t>battery_status</a:t>
            </a:r>
            <a:br>
              <a:rPr kumimoji="1" lang="en-US" altLang="ko-KR" sz="1600" dirty="0"/>
            </a:br>
            <a:endParaRPr kumimoji="1" lang="ko-KR" altLang="en-U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963DEF-35D0-5E85-65AC-42B7F8951F4A}"/>
              </a:ext>
            </a:extLst>
          </p:cNvPr>
          <p:cNvSpPr txBox="1"/>
          <p:nvPr/>
        </p:nvSpPr>
        <p:spPr>
          <a:xfrm>
            <a:off x="9164638" y="4451312"/>
            <a:ext cx="26516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dirty="0">
                <a:solidFill>
                  <a:schemeClr val="bg1">
                    <a:lumMod val="50000"/>
                  </a:schemeClr>
                </a:solidFill>
              </a:rPr>
              <a:t>하나의 특정 토픽 종류에 대해 </a:t>
            </a:r>
            <a:br>
              <a:rPr kumimoji="1" lang="en-US" altLang="ko-KR" sz="1400" dirty="0">
                <a:solidFill>
                  <a:schemeClr val="bg1">
                    <a:lumMod val="50000"/>
                  </a:schemeClr>
                </a:solidFill>
              </a:rPr>
            </a:br>
            <a:r>
              <a:rPr kumimoji="1" lang="ko-KR" altLang="en-US" sz="1400" dirty="0">
                <a:solidFill>
                  <a:schemeClr val="bg1">
                    <a:lumMod val="50000"/>
                  </a:schemeClr>
                </a:solidFill>
              </a:rPr>
              <a:t>하나의 채널만 사용할 수 있음 </a:t>
            </a:r>
          </a:p>
        </p:txBody>
      </p:sp>
    </p:spTree>
    <p:extLst>
      <p:ext uri="{BB962C8B-B14F-4D97-AF65-F5344CB8AC3E}">
        <p14:creationId xmlns:p14="http://schemas.microsoft.com/office/powerpoint/2010/main" val="2759379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28D64E82-72E3-F462-A8B1-CD0718851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274300" cy="600075"/>
          </a:xfrm>
        </p:spPr>
        <p:txBody>
          <a:bodyPr>
            <a:normAutofit fontScale="90000"/>
          </a:bodyPr>
          <a:lstStyle/>
          <a:p>
            <a:r>
              <a:rPr lang="en-US" altLang="ko-KR" sz="4000" b="1" dirty="0" err="1"/>
              <a:t>MAVLink</a:t>
            </a:r>
            <a:r>
              <a:rPr lang="ko-KR" altLang="en-US" sz="4000" b="1" dirty="0"/>
              <a:t> 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775359-790C-C986-3C96-DDA46B9E2ADD}"/>
              </a:ext>
            </a:extLst>
          </p:cNvPr>
          <p:cNvSpPr txBox="1"/>
          <p:nvPr/>
        </p:nvSpPr>
        <p:spPr>
          <a:xfrm>
            <a:off x="6482031" y="1643063"/>
            <a:ext cx="3633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 err="1"/>
              <a:t>MAVLink</a:t>
            </a:r>
            <a:r>
              <a:rPr kumimoji="1" lang="en-US" altLang="ko-KR" dirty="0"/>
              <a:t> Microservice (</a:t>
            </a:r>
            <a:r>
              <a:rPr kumimoji="1" lang="ko-KR" altLang="en-US" dirty="0"/>
              <a:t>프로토콜</a:t>
            </a:r>
            <a:r>
              <a:rPr kumimoji="1" lang="en-US" altLang="ko-KR" dirty="0"/>
              <a:t>)</a:t>
            </a:r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0B05FF-41EE-F64F-18FB-F555D4D65552}"/>
              </a:ext>
            </a:extLst>
          </p:cNvPr>
          <p:cNvSpPr txBox="1"/>
          <p:nvPr/>
        </p:nvSpPr>
        <p:spPr>
          <a:xfrm>
            <a:off x="1557338" y="1643063"/>
            <a:ext cx="4181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 err="1"/>
              <a:t>Common.xml</a:t>
            </a:r>
            <a:r>
              <a:rPr kumimoji="1" lang="en-US" altLang="ko-KR" dirty="0"/>
              <a:t> (</a:t>
            </a:r>
            <a:r>
              <a:rPr kumimoji="1" lang="en-US" altLang="ko-KR" dirty="0" err="1"/>
              <a:t>MAVLink</a:t>
            </a:r>
            <a:r>
              <a:rPr kumimoji="1" lang="en-US" altLang="ko-KR" dirty="0"/>
              <a:t> </a:t>
            </a:r>
            <a:r>
              <a:rPr kumimoji="1" lang="ko-KR" altLang="en-US" dirty="0"/>
              <a:t>메시지 세트 </a:t>
            </a:r>
            <a:r>
              <a:rPr kumimoji="1" lang="en-US" altLang="ko-KR" dirty="0"/>
              <a:t>)</a:t>
            </a:r>
            <a:r>
              <a:rPr kumimoji="1" lang="ko-KR" altLang="en-US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72A23F-5E71-00F6-594F-B689D6C2E2D4}"/>
              </a:ext>
            </a:extLst>
          </p:cNvPr>
          <p:cNvSpPr txBox="1"/>
          <p:nvPr/>
        </p:nvSpPr>
        <p:spPr>
          <a:xfrm>
            <a:off x="985838" y="2367092"/>
            <a:ext cx="46121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-</a:t>
            </a:r>
            <a:r>
              <a:rPr kumimoji="1" lang="ko-KR" altLang="en-US" dirty="0"/>
              <a:t> 개별 메시지의 구조와 필드 </a:t>
            </a:r>
            <a:endParaRPr kumimoji="1" lang="en-US" altLang="ko-KR" dirty="0"/>
          </a:p>
          <a:p>
            <a:r>
              <a:rPr kumimoji="1" lang="en-US" altLang="ko-KR" dirty="0"/>
              <a:t>-</a:t>
            </a:r>
            <a:r>
              <a:rPr kumimoji="1" lang="ko-KR" altLang="en-US" dirty="0"/>
              <a:t> 데이터를 어떻게 포장해서 </a:t>
            </a:r>
            <a:r>
              <a:rPr kumimoji="1" lang="ko-KR" altLang="en-US" dirty="0" err="1"/>
              <a:t>보낼지를</a:t>
            </a:r>
            <a:r>
              <a:rPr kumimoji="1" lang="ko-KR" altLang="en-US" dirty="0"/>
              <a:t> 정의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EBC63C-5CBE-137A-FC90-F580449FB5BA}"/>
              </a:ext>
            </a:extLst>
          </p:cNvPr>
          <p:cNvSpPr txBox="1"/>
          <p:nvPr/>
        </p:nvSpPr>
        <p:spPr>
          <a:xfrm>
            <a:off x="6272213" y="2367092"/>
            <a:ext cx="569899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-</a:t>
            </a:r>
            <a:r>
              <a:rPr kumimoji="1" lang="ko-KR" altLang="en-US" dirty="0"/>
              <a:t> 여러 메시지를 사용하는 특정 기능 </a:t>
            </a:r>
            <a:r>
              <a:rPr kumimoji="1" lang="en-US" altLang="ko-KR" dirty="0"/>
              <a:t>(Service)</a:t>
            </a:r>
            <a:br>
              <a:rPr kumimoji="1" lang="en-US" altLang="ko-KR" dirty="0"/>
            </a:br>
            <a:r>
              <a:rPr kumimoji="1" lang="ko-KR" altLang="en-US" dirty="0"/>
              <a:t>의 통신 규칙 </a:t>
            </a:r>
            <a:endParaRPr kumimoji="1" lang="en-US" altLang="ko-KR" dirty="0"/>
          </a:p>
          <a:p>
            <a:r>
              <a:rPr kumimoji="1" lang="en-US" altLang="ko-KR" dirty="0"/>
              <a:t>-</a:t>
            </a:r>
            <a:r>
              <a:rPr kumimoji="1" lang="ko-KR" altLang="en-US" dirty="0"/>
              <a:t> 명령메시지를 보내고 확인 응답 메시지를 받는 과정</a:t>
            </a:r>
            <a:br>
              <a:rPr kumimoji="1" lang="en-US" altLang="ko-KR" dirty="0"/>
            </a:br>
            <a:r>
              <a:rPr kumimoji="1" lang="en-US" altLang="ko-KR" dirty="0"/>
              <a:t>-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Common.xml</a:t>
            </a:r>
            <a:r>
              <a:rPr kumimoji="1" lang="ko-KR" altLang="en-US" dirty="0"/>
              <a:t>로 </a:t>
            </a:r>
            <a:r>
              <a:rPr kumimoji="1" lang="ko-KR" altLang="en-US" dirty="0" err="1"/>
              <a:t>부터</a:t>
            </a:r>
            <a:r>
              <a:rPr kumimoji="1" lang="ko-KR" altLang="en-US" dirty="0"/>
              <a:t> 포장된 데이터를 사용하여 </a:t>
            </a:r>
            <a:br>
              <a:rPr kumimoji="1" lang="en-US" altLang="ko-KR" dirty="0"/>
            </a:br>
            <a:r>
              <a:rPr kumimoji="1" lang="ko-KR" altLang="en-US" dirty="0"/>
              <a:t>어떤 기능을 수행할지 정의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694ECD-33CB-8271-36DB-35FB55A51F64}"/>
              </a:ext>
            </a:extLst>
          </p:cNvPr>
          <p:cNvSpPr txBox="1"/>
          <p:nvPr/>
        </p:nvSpPr>
        <p:spPr>
          <a:xfrm>
            <a:off x="1628775" y="4271963"/>
            <a:ext cx="85205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 err="1"/>
              <a:t>Common.xml</a:t>
            </a:r>
            <a:r>
              <a:rPr kumimoji="1" lang="en-US" altLang="ko-KR" dirty="0"/>
              <a:t> : </a:t>
            </a:r>
            <a:r>
              <a:rPr kumimoji="1" lang="ko-KR" altLang="en-US" dirty="0"/>
              <a:t>메시지를 교환하기 위한 기본적인 데이터 단위들을 정의</a:t>
            </a:r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 err="1"/>
              <a:t>MAVLink</a:t>
            </a:r>
            <a:r>
              <a:rPr kumimoji="1" lang="en-US" altLang="ko-KR" dirty="0"/>
              <a:t> </a:t>
            </a:r>
            <a:r>
              <a:rPr kumimoji="1" lang="ko-KR" altLang="en-US" dirty="0"/>
              <a:t>프로토콜 </a:t>
            </a:r>
            <a:r>
              <a:rPr kumimoji="1" lang="en-US" altLang="ko-KR" dirty="0"/>
              <a:t>:</a:t>
            </a:r>
            <a:r>
              <a:rPr kumimoji="1" lang="ko-KR" altLang="en-US" dirty="0"/>
              <a:t> 메시지를 조합하여 서비스</a:t>
            </a:r>
            <a:r>
              <a:rPr kumimoji="1" lang="en-US" altLang="ko-KR" dirty="0"/>
              <a:t>/</a:t>
            </a:r>
            <a:r>
              <a:rPr kumimoji="1" lang="ko-KR" altLang="en-US" dirty="0"/>
              <a:t>기능을 처리할 수 있는 규칙 집합</a:t>
            </a:r>
          </a:p>
        </p:txBody>
      </p:sp>
    </p:spTree>
    <p:extLst>
      <p:ext uri="{BB962C8B-B14F-4D97-AF65-F5344CB8AC3E}">
        <p14:creationId xmlns:p14="http://schemas.microsoft.com/office/powerpoint/2010/main" val="1729284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7B44372E-5648-C8B3-566D-AA318EA2C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274300" cy="600075"/>
          </a:xfrm>
        </p:spPr>
        <p:txBody>
          <a:bodyPr>
            <a:normAutofit fontScale="90000"/>
          </a:bodyPr>
          <a:lstStyle/>
          <a:p>
            <a:r>
              <a:rPr lang="en-US" altLang="ko-KR" sz="4000" b="1" dirty="0" err="1"/>
              <a:t>MAVLink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1367C62-15FB-9666-9AB2-103576212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180" y="1094238"/>
            <a:ext cx="4464698" cy="547191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173DEE9-B51B-6E6B-D784-8DF217735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4" y="2502252"/>
            <a:ext cx="3691349" cy="26776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9F1328-D448-0DEA-27FE-3D45F18EA800}"/>
              </a:ext>
            </a:extLst>
          </p:cNvPr>
          <p:cNvSpPr txBox="1"/>
          <p:nvPr/>
        </p:nvSpPr>
        <p:spPr>
          <a:xfrm>
            <a:off x="6222531" y="2122034"/>
            <a:ext cx="1957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Battery</a:t>
            </a:r>
            <a:r>
              <a:rPr kumimoji="1" lang="ko-KR" altLang="en-US" dirty="0"/>
              <a:t> </a:t>
            </a:r>
            <a:r>
              <a:rPr kumimoji="1" lang="en-US" altLang="ko-KR" dirty="0"/>
              <a:t>Protocol</a:t>
            </a:r>
            <a:r>
              <a:rPr kumimoji="1" lang="ko-KR" altLang="en-US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AFB42F-0A79-E9CD-74F3-539954F0FC6E}"/>
              </a:ext>
            </a:extLst>
          </p:cNvPr>
          <p:cNvSpPr txBox="1"/>
          <p:nvPr/>
        </p:nvSpPr>
        <p:spPr>
          <a:xfrm>
            <a:off x="10025473" y="3145972"/>
            <a:ext cx="19255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dirty="0"/>
              <a:t>명령을 보내는 메시지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873B50-F149-886F-4F91-2F1C0F0C8613}"/>
              </a:ext>
            </a:extLst>
          </p:cNvPr>
          <p:cNvSpPr txBox="1"/>
          <p:nvPr/>
        </p:nvSpPr>
        <p:spPr>
          <a:xfrm>
            <a:off x="8873293" y="4430487"/>
            <a:ext cx="19255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dirty="0"/>
              <a:t>구체적인 명령의 종류</a:t>
            </a:r>
          </a:p>
        </p:txBody>
      </p:sp>
    </p:spTree>
    <p:extLst>
      <p:ext uri="{BB962C8B-B14F-4D97-AF65-F5344CB8AC3E}">
        <p14:creationId xmlns:p14="http://schemas.microsoft.com/office/powerpoint/2010/main" val="1774910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2F63CD44-7706-377A-8726-B16848A86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274300" cy="600075"/>
          </a:xfrm>
        </p:spPr>
        <p:txBody>
          <a:bodyPr>
            <a:normAutofit fontScale="90000"/>
          </a:bodyPr>
          <a:lstStyle/>
          <a:p>
            <a:r>
              <a:rPr lang="en-US" altLang="ko-KR" sz="4000" b="1" dirty="0" err="1"/>
              <a:t>MAVLink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6518BEE-39A2-0657-1119-1095C8C59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108" y="1474788"/>
            <a:ext cx="4838892" cy="315436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42F0BAB-FC18-9718-B6A6-E999170EC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51818"/>
            <a:ext cx="4078838" cy="315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563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6902A391-0C17-9DA6-7C6C-6B0FF82F5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274300" cy="600075"/>
          </a:xfrm>
        </p:spPr>
        <p:txBody>
          <a:bodyPr>
            <a:normAutofit fontScale="90000"/>
          </a:bodyPr>
          <a:lstStyle/>
          <a:p>
            <a:r>
              <a:rPr lang="en-US" altLang="ko-KR" sz="4000" b="1" dirty="0" err="1"/>
              <a:t>MAVLink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3C207EE-4574-8B79-A461-5A196DAC0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36208"/>
            <a:ext cx="3822700" cy="318558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3A25960-760C-1AF1-A6E0-90F987B2A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7582" y="971663"/>
            <a:ext cx="3402750" cy="232482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F43755C-41EA-46DD-8DAE-B8DF0C1AC2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350" y="3715919"/>
            <a:ext cx="2987215" cy="2611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714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588</Words>
  <Application>Microsoft Macintosh PowerPoint</Application>
  <PresentationFormat>와이드스크린</PresentationFormat>
  <Paragraphs>67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MAVLink</vt:lpstr>
      <vt:lpstr>MAVLink </vt:lpstr>
      <vt:lpstr>MAVLink </vt:lpstr>
      <vt:lpstr>MAVLink </vt:lpstr>
      <vt:lpstr>PowerPoint 프레젠테이션</vt:lpstr>
      <vt:lpstr>MAVLink </vt:lpstr>
      <vt:lpstr>MAVLink </vt:lpstr>
      <vt:lpstr>PowerPoint 프레젠테이션</vt:lpstr>
      <vt:lpstr>MAVLink </vt:lpstr>
      <vt:lpstr>MAVLink </vt:lpstr>
      <vt:lpstr>MAVLink  </vt:lpstr>
      <vt:lpstr>MAVLink </vt:lpstr>
      <vt:lpstr>MAVLink </vt:lpstr>
      <vt:lpstr>MAVLink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MAVLink /uORB</dc:title>
  <dc:creator>서원 이</dc:creator>
  <cp:lastModifiedBy>이서원</cp:lastModifiedBy>
  <cp:revision>3</cp:revision>
  <dcterms:created xsi:type="dcterms:W3CDTF">2025-11-11T17:57:46Z</dcterms:created>
  <dcterms:modified xsi:type="dcterms:W3CDTF">2025-11-12T02:34:09Z</dcterms:modified>
</cp:coreProperties>
</file>